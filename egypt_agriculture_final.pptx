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5" r:id="rId10"/>
    <p:sldId id="266" r:id="rId11"/>
    <p:sldId id="264"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5" d="100"/>
          <a:sy n="105" d="100"/>
        </p:scale>
        <p:origin x="80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bar"/>
        <c:grouping val="clustered"/>
        <c:varyColors val="0"/>
        <c:ser>
          <c:idx val="0"/>
          <c:order val="0"/>
          <c:tx>
            <c:strRef>
              <c:f>Sheet1!$B$1</c:f>
              <c:strCache>
                <c:ptCount val="1"/>
                <c:pt idx="0">
                  <c:v>Suitability Score</c:v>
                </c:pt>
              </c:strCache>
            </c:strRef>
          </c:tx>
          <c:spPr>
            <a:solidFill>
              <a:srgbClr val="2ECC71"/>
            </a:solidFill>
            <a:effectLst/>
          </c:spPr>
          <c:invertIfNegative val="0"/>
          <c:dPt>
            <c:idx val="0"/>
            <c:invertIfNegative val="0"/>
            <c:bubble3D val="0"/>
            <c:extLst>
              <c:ext xmlns:c16="http://schemas.microsoft.com/office/drawing/2014/chart" uri="{C3380CC4-5D6E-409C-BE32-E72D297353CC}">
                <c16:uniqueId val="{00000001-40B2-43FF-B46C-074DC0046909}"/>
              </c:ext>
            </c:extLst>
          </c:dPt>
          <c:dPt>
            <c:idx val="1"/>
            <c:invertIfNegative val="0"/>
            <c:bubble3D val="0"/>
            <c:extLst>
              <c:ext xmlns:c16="http://schemas.microsoft.com/office/drawing/2014/chart" uri="{C3380CC4-5D6E-409C-BE32-E72D297353CC}">
                <c16:uniqueId val="{00000003-40B2-43FF-B46C-074DC0046909}"/>
              </c:ext>
            </c:extLst>
          </c:dPt>
          <c:dPt>
            <c:idx val="2"/>
            <c:invertIfNegative val="0"/>
            <c:bubble3D val="0"/>
            <c:extLst>
              <c:ext xmlns:c16="http://schemas.microsoft.com/office/drawing/2014/chart" uri="{C3380CC4-5D6E-409C-BE32-E72D297353CC}">
                <c16:uniqueId val="{00000005-40B2-43FF-B46C-074DC0046909}"/>
              </c:ext>
            </c:extLst>
          </c:dPt>
          <c:dPt>
            <c:idx val="3"/>
            <c:invertIfNegative val="0"/>
            <c:bubble3D val="0"/>
            <c:extLst>
              <c:ext xmlns:c16="http://schemas.microsoft.com/office/drawing/2014/chart" uri="{C3380CC4-5D6E-409C-BE32-E72D297353CC}">
                <c16:uniqueId val="{00000007-40B2-43FF-B46C-074DC0046909}"/>
              </c:ext>
            </c:extLst>
          </c:dPt>
          <c:dPt>
            <c:idx val="4"/>
            <c:invertIfNegative val="0"/>
            <c:bubble3D val="0"/>
            <c:spPr>
              <a:solidFill>
                <a:srgbClr val="27AE60"/>
              </a:solidFill>
              <a:effectLst/>
            </c:spPr>
            <c:extLst>
              <c:ext xmlns:c16="http://schemas.microsoft.com/office/drawing/2014/chart" uri="{C3380CC4-5D6E-409C-BE32-E72D297353CC}">
                <c16:uniqueId val="{00000009-40B2-43FF-B46C-074DC0046909}"/>
              </c:ext>
            </c:extLst>
          </c:dPt>
          <c:dPt>
            <c:idx val="5"/>
            <c:invertIfNegative val="0"/>
            <c:bubble3D val="0"/>
            <c:spPr>
              <a:solidFill>
                <a:srgbClr val="27AE60"/>
              </a:solidFill>
              <a:effectLst/>
            </c:spPr>
            <c:extLst>
              <c:ext xmlns:c16="http://schemas.microsoft.com/office/drawing/2014/chart" uri="{C3380CC4-5D6E-409C-BE32-E72D297353CC}">
                <c16:uniqueId val="{0000000B-40B2-43FF-B46C-074DC0046909}"/>
              </c:ext>
            </c:extLst>
          </c:dPt>
          <c:dPt>
            <c:idx val="6"/>
            <c:invertIfNegative val="0"/>
            <c:bubble3D val="0"/>
            <c:spPr>
              <a:solidFill>
                <a:srgbClr val="27AE60"/>
              </a:solidFill>
              <a:effectLst/>
            </c:spPr>
            <c:extLst>
              <c:ext xmlns:c16="http://schemas.microsoft.com/office/drawing/2014/chart" uri="{C3380CC4-5D6E-409C-BE32-E72D297353CC}">
                <c16:uniqueId val="{0000000D-40B2-43FF-B46C-074DC0046909}"/>
              </c:ext>
            </c:extLst>
          </c:dPt>
          <c:dPt>
            <c:idx val="7"/>
            <c:invertIfNegative val="0"/>
            <c:bubble3D val="0"/>
            <c:spPr>
              <a:solidFill>
                <a:srgbClr val="27AE60"/>
              </a:solidFill>
              <a:effectLst/>
            </c:spPr>
            <c:extLst>
              <c:ext xmlns:c16="http://schemas.microsoft.com/office/drawing/2014/chart" uri="{C3380CC4-5D6E-409C-BE32-E72D297353CC}">
                <c16:uniqueId val="{0000000F-40B2-43FF-B46C-074DC0046909}"/>
              </c:ext>
            </c:extLst>
          </c:dPt>
          <c:dPt>
            <c:idx val="8"/>
            <c:invertIfNegative val="0"/>
            <c:bubble3D val="0"/>
            <c:spPr>
              <a:solidFill>
                <a:srgbClr val="52BE80"/>
              </a:solidFill>
              <a:effectLst/>
            </c:spPr>
            <c:extLst>
              <c:ext xmlns:c16="http://schemas.microsoft.com/office/drawing/2014/chart" uri="{C3380CC4-5D6E-409C-BE32-E72D297353CC}">
                <c16:uniqueId val="{00000011-40B2-43FF-B46C-074DC0046909}"/>
              </c:ext>
            </c:extLst>
          </c:dPt>
          <c:dPt>
            <c:idx val="9"/>
            <c:invertIfNegative val="0"/>
            <c:bubble3D val="0"/>
            <c:spPr>
              <a:solidFill>
                <a:srgbClr val="52BE80"/>
              </a:solidFill>
              <a:effectLst/>
            </c:spPr>
            <c:extLst>
              <c:ext xmlns:c16="http://schemas.microsoft.com/office/drawing/2014/chart" uri="{C3380CC4-5D6E-409C-BE32-E72D297353CC}">
                <c16:uniqueId val="{00000013-40B2-43FF-B46C-074DC0046909}"/>
              </c:ext>
            </c:extLst>
          </c:dPt>
          <c:dLbls>
            <c:numFmt formatCode="#,##0" sourceLinked="0"/>
            <c:spPr>
              <a:noFill/>
              <a:ln>
                <a:noFill/>
              </a:ln>
              <a:effectLst/>
            </c:spPr>
            <c:txPr>
              <a:bodyPr/>
              <a:lstStyle/>
              <a:p>
                <a:pPr>
                  <a:defRPr sz="10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Ad Daqahliyah</c:v>
                </c:pt>
                <c:pt idx="1">
                  <c:v>Al Gharbiyah</c:v>
                </c:pt>
                <c:pt idx="2">
                  <c:v>Ash Sharqiyah</c:v>
                </c:pt>
                <c:pt idx="3">
                  <c:v>Isma'iliyah (Sharq)</c:v>
                </c:pt>
                <c:pt idx="4">
                  <c:v>Kafr ash Shaykh</c:v>
                </c:pt>
                <c:pt idx="5">
                  <c:v>Al Buhayrah</c:v>
                </c:pt>
                <c:pt idx="6">
                  <c:v>Dumyat</c:v>
                </c:pt>
                <c:pt idx="7">
                  <c:v>Al Minufiyah</c:v>
                </c:pt>
                <c:pt idx="8">
                  <c:v>Al Qalyubiyah</c:v>
                </c:pt>
                <c:pt idx="9">
                  <c:v>Al Fayyum</c:v>
                </c:pt>
              </c:strCache>
            </c:strRef>
          </c:cat>
          <c:val>
            <c:numRef>
              <c:f>Sheet1!$B$2:$B$11</c:f>
              <c:numCache>
                <c:formatCode>General</c:formatCode>
                <c:ptCount val="10"/>
                <c:pt idx="0">
                  <c:v>90</c:v>
                </c:pt>
                <c:pt idx="1">
                  <c:v>89</c:v>
                </c:pt>
                <c:pt idx="2">
                  <c:v>88</c:v>
                </c:pt>
                <c:pt idx="3">
                  <c:v>88</c:v>
                </c:pt>
                <c:pt idx="4">
                  <c:v>87</c:v>
                </c:pt>
                <c:pt idx="5">
                  <c:v>86</c:v>
                </c:pt>
                <c:pt idx="6">
                  <c:v>85</c:v>
                </c:pt>
                <c:pt idx="7">
                  <c:v>84</c:v>
                </c:pt>
                <c:pt idx="8">
                  <c:v>82</c:v>
                </c:pt>
                <c:pt idx="9">
                  <c:v>80</c:v>
                </c:pt>
              </c:numCache>
            </c:numRef>
          </c:val>
          <c:extLst>
            <c:ext xmlns:c16="http://schemas.microsoft.com/office/drawing/2014/chart" uri="{C3380CC4-5D6E-409C-BE32-E72D297353CC}">
              <c16:uniqueId val="{00000014-40B2-43FF-B46C-074DC004690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ECF0F1"/>
                </a:solidFill>
                <a:latin typeface="Arial"/>
              </a:defRPr>
            </a:pPr>
            <a:endParaRPr lang="en-US"/>
          </a:p>
        </c:txPr>
        <c:crossAx val="2094734552"/>
        <c:crosses val="autoZero"/>
        <c:auto val="1"/>
        <c:lblAlgn val="ctr"/>
        <c:lblOffset val="100"/>
        <c:noMultiLvlLbl val="1"/>
      </c:catAx>
      <c:valAx>
        <c:axId val="2094734552"/>
        <c:scaling>
          <c:orientation val="minMax"/>
          <c:max val="95"/>
          <c:min val="70"/>
        </c:scaling>
        <c:delete val="0"/>
        <c:axPos val="b"/>
        <c:majorGridlines>
          <c:spPr>
            <a:ln w="6350" cap="flat">
              <a:solidFill>
                <a:srgbClr val="2C4A6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ECF0F1"/>
                </a:solidFill>
                <a:latin typeface="Arial"/>
              </a:defRPr>
            </a:pPr>
            <a:endParaRPr lang="en-US"/>
          </a:p>
        </c:txPr>
        <c:crossAx val="2094734554"/>
        <c:crosses val="autoZero"/>
        <c:crossBetween val="between"/>
      </c:valAx>
      <c:spPr>
        <a:solidFill>
          <a:srgbClr val="1B3A5C"/>
        </a:solidFill>
        <a:ln>
          <a:noFill/>
        </a:ln>
        <a:effectLst/>
      </c:spPr>
    </c:plotArea>
    <c:plotVisOnly val="1"/>
    <c:dispBlanksAs val="span"/>
    <c:showDLblsOverMax val="1"/>
  </c:chart>
  <c:spPr>
    <a:solidFill>
      <a:srgbClr val="1B3A5C"/>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4757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ECC71"/>
          </a:solidFill>
          <a:ln w="12700">
            <a:solidFill>
              <a:srgbClr val="2ECC71"/>
            </a:solidFill>
            <a:prstDash val="solid"/>
          </a:ln>
        </p:spPr>
      </p:sp>
      <p:pic>
        <p:nvPicPr>
          <p:cNvPr id="3" name="Image 0" descr="preencoded.png"/>
          <p:cNvPicPr>
            <a:picLocks noChangeAspect="1"/>
          </p:cNvPicPr>
          <p:nvPr/>
        </p:nvPicPr>
        <p:blipFill>
          <a:blip r:embed="rId3"/>
          <a:stretch>
            <a:fillRect/>
          </a:stretch>
        </p:blipFill>
        <p:spPr>
          <a:xfrm>
            <a:off x="7315200" y="548640"/>
            <a:ext cx="1371600" cy="1371600"/>
          </a:xfrm>
          <a:prstGeom prst="rect">
            <a:avLst/>
          </a:prstGeom>
        </p:spPr>
      </p:pic>
      <p:sp>
        <p:nvSpPr>
          <p:cNvPr id="4" name="Text 1"/>
          <p:cNvSpPr/>
          <p:nvPr/>
        </p:nvSpPr>
        <p:spPr>
          <a:xfrm>
            <a:off x="365760" y="822960"/>
            <a:ext cx="6583680" cy="82296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Egypt Agricultural</a:t>
            </a:r>
            <a:endParaRPr lang="en-US" sz="4000" dirty="0"/>
          </a:p>
        </p:txBody>
      </p:sp>
      <p:sp>
        <p:nvSpPr>
          <p:cNvPr id="5" name="Text 2"/>
          <p:cNvSpPr/>
          <p:nvPr/>
        </p:nvSpPr>
        <p:spPr>
          <a:xfrm>
            <a:off x="365760" y="1600200"/>
            <a:ext cx="6583680" cy="685800"/>
          </a:xfrm>
          <a:prstGeom prst="rect">
            <a:avLst/>
          </a:prstGeom>
          <a:noFill/>
          <a:ln/>
        </p:spPr>
        <p:txBody>
          <a:bodyPr wrap="square" rtlCol="0" anchor="ctr"/>
          <a:lstStyle/>
          <a:p>
            <a:pPr marL="0" indent="0">
              <a:buNone/>
            </a:pPr>
            <a:r>
              <a:rPr lang="en-US" sz="3600" b="1" dirty="0">
                <a:solidFill>
                  <a:srgbClr val="2ECC71"/>
                </a:solidFill>
                <a:latin typeface="Calibri" pitchFamily="34" charset="0"/>
                <a:ea typeface="Calibri" pitchFamily="34" charset="-122"/>
                <a:cs typeface="Calibri" pitchFamily="34" charset="-120"/>
              </a:rPr>
              <a:t>Spatial Analysis Project</a:t>
            </a:r>
            <a:endParaRPr lang="en-US" sz="3600" dirty="0"/>
          </a:p>
        </p:txBody>
      </p:sp>
      <p:sp>
        <p:nvSpPr>
          <p:cNvPr id="6" name="Shape 3"/>
          <p:cNvSpPr/>
          <p:nvPr/>
        </p:nvSpPr>
        <p:spPr>
          <a:xfrm>
            <a:off x="365760" y="2377440"/>
            <a:ext cx="5943600" cy="36576"/>
          </a:xfrm>
          <a:prstGeom prst="rect">
            <a:avLst/>
          </a:prstGeom>
          <a:solidFill>
            <a:srgbClr val="F39C12"/>
          </a:solidFill>
          <a:ln w="12700">
            <a:solidFill>
              <a:srgbClr val="F39C12"/>
            </a:solidFill>
            <a:prstDash val="solid"/>
          </a:ln>
        </p:spPr>
      </p:sp>
      <p:sp>
        <p:nvSpPr>
          <p:cNvPr id="7" name="Text 4"/>
          <p:cNvSpPr/>
          <p:nvPr/>
        </p:nvSpPr>
        <p:spPr>
          <a:xfrm>
            <a:off x="365760" y="2514600"/>
            <a:ext cx="6858000" cy="822960"/>
          </a:xfrm>
          <a:prstGeom prst="rect">
            <a:avLst/>
          </a:prstGeom>
          <a:noFill/>
          <a:ln/>
        </p:spPr>
        <p:txBody>
          <a:bodyPr wrap="square" rtlCol="0" anchor="ctr"/>
          <a:lstStyle/>
          <a:p>
            <a:pPr marL="0" indent="0">
              <a:buNone/>
            </a:pPr>
            <a:r>
              <a:rPr lang="en-US" sz="1400" i="1" dirty="0">
                <a:solidFill>
                  <a:srgbClr val="ECF0F1"/>
                </a:solidFill>
                <a:latin typeface="Calibri" pitchFamily="34" charset="0"/>
                <a:ea typeface="Calibri" pitchFamily="34" charset="-122"/>
                <a:cs typeface="Calibri" pitchFamily="34" charset="-120"/>
              </a:rPr>
              <a:t>Mapping crop suitability, agricultural regions &amp; land use patterns</a:t>
            </a:r>
            <a:endParaRPr lang="en-US" sz="1400" dirty="0"/>
          </a:p>
          <a:p>
            <a:pPr marL="0" indent="0">
              <a:buNone/>
            </a:pPr>
            <a:r>
              <a:rPr lang="en-US" sz="1400" i="1" dirty="0">
                <a:solidFill>
                  <a:srgbClr val="ECF0F1"/>
                </a:solidFill>
                <a:latin typeface="Calibri" pitchFamily="34" charset="0"/>
                <a:ea typeface="Calibri" pitchFamily="34" charset="-122"/>
                <a:cs typeface="Calibri" pitchFamily="34" charset="-120"/>
              </a:rPr>
              <a:t>across Egypt's 27 governorates using spatial data science.</a:t>
            </a:r>
            <a:endParaRPr lang="en-US" sz="1400" dirty="0"/>
          </a:p>
        </p:txBody>
      </p:sp>
      <p:sp>
        <p:nvSpPr>
          <p:cNvPr id="8" name="Text 5"/>
          <p:cNvSpPr/>
          <p:nvPr/>
        </p:nvSpPr>
        <p:spPr>
          <a:xfrm>
            <a:off x="365760" y="3657600"/>
            <a:ext cx="4572000" cy="320040"/>
          </a:xfrm>
          <a:prstGeom prst="rect">
            <a:avLst/>
          </a:prstGeom>
          <a:noFill/>
          <a:ln/>
        </p:spPr>
        <p:txBody>
          <a:bodyPr wrap="square" rtlCol="0" anchor="ctr"/>
          <a:lstStyle/>
          <a:p>
            <a:pPr marL="0" indent="0">
              <a:buNone/>
            </a:pPr>
            <a:r>
              <a:rPr lang="en-US" sz="1300" b="1" dirty="0">
                <a:solidFill>
                  <a:srgbClr val="2ECC71"/>
                </a:solidFill>
                <a:latin typeface="Calibri" pitchFamily="34" charset="0"/>
                <a:ea typeface="Calibri" pitchFamily="34" charset="-122"/>
                <a:cs typeface="Calibri" pitchFamily="34" charset="-120"/>
              </a:rPr>
              <a:t>Student: </a:t>
            </a:r>
            <a:r>
              <a:rPr lang="en-US" sz="1300" dirty="0">
                <a:solidFill>
                  <a:srgbClr val="ECF0F1"/>
                </a:solidFill>
                <a:latin typeface="Calibri" pitchFamily="34" charset="0"/>
                <a:ea typeface="Calibri" pitchFamily="34" charset="-122"/>
                <a:cs typeface="Calibri" pitchFamily="34" charset="-120"/>
              </a:rPr>
              <a:t>Osman Osama</a:t>
            </a:r>
            <a:endParaRPr lang="en-US" sz="1300" dirty="0"/>
          </a:p>
        </p:txBody>
      </p:sp>
      <p:sp>
        <p:nvSpPr>
          <p:cNvPr id="9" name="Text 6"/>
          <p:cNvSpPr/>
          <p:nvPr/>
        </p:nvSpPr>
        <p:spPr>
          <a:xfrm>
            <a:off x="365760" y="3977640"/>
            <a:ext cx="8229600" cy="320040"/>
          </a:xfrm>
          <a:prstGeom prst="rect">
            <a:avLst/>
          </a:prstGeom>
          <a:noFill/>
          <a:ln/>
        </p:spPr>
        <p:txBody>
          <a:bodyPr wrap="square" rtlCol="0" anchor="ctr"/>
          <a:lstStyle/>
          <a:p>
            <a:pPr marL="0" indent="0">
              <a:buNone/>
            </a:pPr>
            <a:r>
              <a:rPr lang="en-US" sz="1300" b="1" dirty="0">
                <a:solidFill>
                  <a:srgbClr val="2ECC71"/>
                </a:solidFill>
                <a:latin typeface="Calibri" pitchFamily="34" charset="0"/>
                <a:ea typeface="Calibri" pitchFamily="34" charset="-122"/>
                <a:cs typeface="Calibri" pitchFamily="34" charset="-120"/>
              </a:rPr>
              <a:t>Institution: </a:t>
            </a:r>
            <a:r>
              <a:rPr lang="en-US" sz="1300" dirty="0">
                <a:solidFill>
                  <a:srgbClr val="ECF0F1"/>
                </a:solidFill>
                <a:latin typeface="Calibri" pitchFamily="34" charset="0"/>
                <a:ea typeface="Calibri" pitchFamily="34" charset="-122"/>
                <a:cs typeface="Calibri" pitchFamily="34" charset="-120"/>
              </a:rPr>
              <a:t>Egyptian Chinese University — Faculty of Computer Science</a:t>
            </a:r>
            <a:endParaRPr lang="en-US" sz="1300" dirty="0"/>
          </a:p>
        </p:txBody>
      </p:sp>
      <p:sp>
        <p:nvSpPr>
          <p:cNvPr id="10" name="Text 7"/>
          <p:cNvSpPr/>
          <p:nvPr/>
        </p:nvSpPr>
        <p:spPr>
          <a:xfrm>
            <a:off x="365760" y="4297680"/>
            <a:ext cx="8229600" cy="320040"/>
          </a:xfrm>
          <a:prstGeom prst="rect">
            <a:avLst/>
          </a:prstGeom>
          <a:noFill/>
          <a:ln/>
        </p:spPr>
        <p:txBody>
          <a:bodyPr wrap="square" rtlCol="0" anchor="ctr"/>
          <a:lstStyle/>
          <a:p>
            <a:pPr marL="0" indent="0">
              <a:buNone/>
            </a:pPr>
            <a:r>
              <a:rPr lang="en-US" sz="1300" b="1" dirty="0">
                <a:solidFill>
                  <a:srgbClr val="2ECC71"/>
                </a:solidFill>
                <a:latin typeface="Calibri" pitchFamily="34" charset="0"/>
                <a:ea typeface="Calibri" pitchFamily="34" charset="-122"/>
                <a:cs typeface="Calibri" pitchFamily="34" charset="-120"/>
              </a:rPr>
              <a:t>Tools: </a:t>
            </a:r>
            <a:r>
              <a:rPr lang="en-US" sz="1300" dirty="0">
                <a:solidFill>
                  <a:srgbClr val="ECF0F1"/>
                </a:solidFill>
                <a:latin typeface="Calibri" pitchFamily="34" charset="0"/>
                <a:ea typeface="Calibri" pitchFamily="34" charset="-122"/>
                <a:cs typeface="Calibri" pitchFamily="34" charset="-120"/>
              </a:rPr>
              <a:t>R · sf · ggplot2 · leaflet · GADM Shapefiles · CAPMAS Data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Project Overview</a:t>
            </a:r>
            <a:endParaRPr lang="en-US" sz="3200" dirty="0"/>
          </a:p>
        </p:txBody>
      </p:sp>
      <p:sp>
        <p:nvSpPr>
          <p:cNvPr id="3" name="Shape 1"/>
          <p:cNvSpPr/>
          <p:nvPr/>
        </p:nvSpPr>
        <p:spPr>
          <a:xfrm>
            <a:off x="457200" y="804672"/>
            <a:ext cx="3657600" cy="36576"/>
          </a:xfrm>
          <a:prstGeom prst="rect">
            <a:avLst/>
          </a:prstGeom>
          <a:solidFill>
            <a:srgbClr val="2ECC71"/>
          </a:solidFill>
          <a:ln w="12700">
            <a:solidFill>
              <a:srgbClr val="2ECC71"/>
            </a:solidFill>
            <a:prstDash val="solid"/>
          </a:ln>
        </p:spPr>
      </p:sp>
      <p:sp>
        <p:nvSpPr>
          <p:cNvPr id="4" name="Shape 2"/>
          <p:cNvSpPr/>
          <p:nvPr/>
        </p:nvSpPr>
        <p:spPr>
          <a:xfrm>
            <a:off x="274320" y="1005840"/>
            <a:ext cx="4114800" cy="1691640"/>
          </a:xfrm>
          <a:prstGeom prst="rect">
            <a:avLst/>
          </a:prstGeom>
          <a:solidFill>
            <a:srgbClr val="1B3A5C"/>
          </a:solidFill>
          <a:ln/>
          <a:effectLst>
            <a:outerShdw blurRad="101600" dist="50800" dir="16200000" algn="bl" rotWithShape="0">
              <a:srgbClr val="000000">
                <a:alpha val="75000"/>
              </a:srgbClr>
            </a:outerShdw>
          </a:effectLst>
        </p:spPr>
      </p:sp>
      <p:pic>
        <p:nvPicPr>
          <p:cNvPr id="5" name="Image 0" descr="preencoded.png"/>
          <p:cNvPicPr>
            <a:picLocks noChangeAspect="1"/>
          </p:cNvPicPr>
          <p:nvPr/>
        </p:nvPicPr>
        <p:blipFill>
          <a:blip r:embed="rId3"/>
          <a:stretch>
            <a:fillRect/>
          </a:stretch>
        </p:blipFill>
        <p:spPr>
          <a:xfrm>
            <a:off x="411480" y="1170432"/>
            <a:ext cx="411480" cy="411480"/>
          </a:xfrm>
          <a:prstGeom prst="rect">
            <a:avLst/>
          </a:prstGeom>
        </p:spPr>
      </p:pic>
      <p:sp>
        <p:nvSpPr>
          <p:cNvPr id="6" name="Text 3"/>
          <p:cNvSpPr/>
          <p:nvPr/>
        </p:nvSpPr>
        <p:spPr>
          <a:xfrm>
            <a:off x="914400" y="1115568"/>
            <a:ext cx="3291840"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Data Sources</a:t>
            </a:r>
            <a:endParaRPr lang="en-US" sz="1500" dirty="0"/>
          </a:p>
        </p:txBody>
      </p:sp>
      <p:sp>
        <p:nvSpPr>
          <p:cNvPr id="7" name="Text 4"/>
          <p:cNvSpPr/>
          <p:nvPr/>
        </p:nvSpPr>
        <p:spPr>
          <a:xfrm>
            <a:off x="411480" y="1554480"/>
            <a:ext cx="3840480" cy="1005840"/>
          </a:xfrm>
          <a:prstGeom prst="rect">
            <a:avLst/>
          </a:prstGeom>
          <a:noFill/>
          <a:ln/>
        </p:spPr>
        <p:txBody>
          <a:bodyPr wrap="square" rtlCol="0" anchor="ctr"/>
          <a:lstStyle/>
          <a:p>
            <a:pPr marL="0" indent="0">
              <a:buNone/>
            </a:pPr>
            <a:r>
              <a:rPr lang="en-US" sz="1100" dirty="0">
                <a:solidFill>
                  <a:srgbClr val="ECF0F1"/>
                </a:solidFill>
                <a:latin typeface="Calibri" pitchFamily="34" charset="0"/>
                <a:ea typeface="Calibri" pitchFamily="34" charset="-122"/>
                <a:cs typeface="Calibri" pitchFamily="34" charset="-120"/>
              </a:rPr>
              <a:t>GADM boundary shapefiles (level 1)</a:t>
            </a:r>
            <a:endParaRPr lang="en-US" sz="1100" dirty="0"/>
          </a:p>
          <a:p>
            <a:pPr marL="0" indent="0">
              <a:buNone/>
            </a:pPr>
            <a:r>
              <a:rPr lang="en-US" sz="1100" dirty="0">
                <a:solidFill>
                  <a:srgbClr val="ECF0F1"/>
                </a:solidFill>
                <a:latin typeface="Calibri" pitchFamily="34" charset="0"/>
                <a:ea typeface="Calibri" pitchFamily="34" charset="-122"/>
                <a:cs typeface="Calibri" pitchFamily="34" charset="-120"/>
              </a:rPr>
              <a:t>CAPMAS agricultural statistics</a:t>
            </a:r>
            <a:endParaRPr lang="en-US" sz="1100" dirty="0"/>
          </a:p>
          <a:p>
            <a:pPr marL="0" indent="0">
              <a:buNone/>
            </a:pPr>
            <a:r>
              <a:rPr lang="en-US" sz="1100" dirty="0">
                <a:solidFill>
                  <a:srgbClr val="ECF0F1"/>
                </a:solidFill>
                <a:latin typeface="Calibri" pitchFamily="34" charset="0"/>
                <a:ea typeface="Calibri" pitchFamily="34" charset="-122"/>
                <a:cs typeface="Calibri" pitchFamily="34" charset="-120"/>
              </a:rPr>
              <a:t>Custom crop suitability scores</a:t>
            </a:r>
            <a:endParaRPr lang="en-US" sz="1100" dirty="0"/>
          </a:p>
          <a:p>
            <a:pPr marL="0" indent="0">
              <a:buNone/>
            </a:pPr>
            <a:r>
              <a:rPr lang="en-US" sz="1100" dirty="0">
                <a:solidFill>
                  <a:srgbClr val="ECF0F1"/>
                </a:solidFill>
                <a:latin typeface="Calibri" pitchFamily="34" charset="0"/>
                <a:ea typeface="Calibri" pitchFamily="34" charset="-122"/>
                <a:cs typeface="Calibri" pitchFamily="34" charset="-120"/>
              </a:rPr>
              <a:t>Coordinates for 27 governorates</a:t>
            </a:r>
            <a:endParaRPr lang="en-US" sz="1100" dirty="0"/>
          </a:p>
        </p:txBody>
      </p:sp>
      <p:sp>
        <p:nvSpPr>
          <p:cNvPr id="8" name="Shape 5"/>
          <p:cNvSpPr/>
          <p:nvPr/>
        </p:nvSpPr>
        <p:spPr>
          <a:xfrm>
            <a:off x="4709160" y="1005840"/>
            <a:ext cx="4114800" cy="1691640"/>
          </a:xfrm>
          <a:prstGeom prst="rect">
            <a:avLst/>
          </a:prstGeom>
          <a:solidFill>
            <a:srgbClr val="1B3A5C"/>
          </a:solidFill>
          <a:ln/>
          <a:effectLst>
            <a:outerShdw blurRad="101600" dist="50800" dir="16200000" algn="bl" rotWithShape="0">
              <a:srgbClr val="000000">
                <a:alpha val="75000"/>
              </a:srgbClr>
            </a:outerShdw>
          </a:effectLst>
        </p:spPr>
      </p:sp>
      <p:pic>
        <p:nvPicPr>
          <p:cNvPr id="9" name="Image 1" descr="preencoded.png"/>
          <p:cNvPicPr>
            <a:picLocks noChangeAspect="1"/>
          </p:cNvPicPr>
          <p:nvPr/>
        </p:nvPicPr>
        <p:blipFill>
          <a:blip r:embed="rId4"/>
          <a:stretch>
            <a:fillRect/>
          </a:stretch>
        </p:blipFill>
        <p:spPr>
          <a:xfrm>
            <a:off x="4846320" y="1170432"/>
            <a:ext cx="411480" cy="411480"/>
          </a:xfrm>
          <a:prstGeom prst="rect">
            <a:avLst/>
          </a:prstGeom>
        </p:spPr>
      </p:pic>
      <p:sp>
        <p:nvSpPr>
          <p:cNvPr id="10" name="Text 6"/>
          <p:cNvSpPr/>
          <p:nvPr/>
        </p:nvSpPr>
        <p:spPr>
          <a:xfrm>
            <a:off x="5349240" y="1115568"/>
            <a:ext cx="3291840"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Methods</a:t>
            </a:r>
            <a:endParaRPr lang="en-US" sz="1500" dirty="0"/>
          </a:p>
        </p:txBody>
      </p:sp>
      <p:sp>
        <p:nvSpPr>
          <p:cNvPr id="11" name="Text 7"/>
          <p:cNvSpPr/>
          <p:nvPr/>
        </p:nvSpPr>
        <p:spPr>
          <a:xfrm>
            <a:off x="4846320" y="1554480"/>
            <a:ext cx="3840480" cy="1005840"/>
          </a:xfrm>
          <a:prstGeom prst="rect">
            <a:avLst/>
          </a:prstGeom>
          <a:noFill/>
          <a:ln/>
        </p:spPr>
        <p:txBody>
          <a:bodyPr wrap="square" rtlCol="0" anchor="ctr"/>
          <a:lstStyle/>
          <a:p>
            <a:pPr marL="0" indent="0">
              <a:buNone/>
            </a:pPr>
            <a:r>
              <a:rPr lang="en-US" sz="1100" dirty="0">
                <a:solidFill>
                  <a:srgbClr val="ECF0F1"/>
                </a:solidFill>
                <a:latin typeface="Calibri" pitchFamily="34" charset="0"/>
                <a:ea typeface="Calibri" pitchFamily="34" charset="-122"/>
                <a:cs typeface="Calibri" pitchFamily="34" charset="-120"/>
              </a:rPr>
              <a:t>Spatial joins &amp; geometry handling (sf)</a:t>
            </a:r>
            <a:endParaRPr lang="en-US" sz="1100" dirty="0"/>
          </a:p>
          <a:p>
            <a:pPr marL="0" indent="0">
              <a:buNone/>
            </a:pPr>
            <a:r>
              <a:rPr lang="en-US" sz="1100" dirty="0">
                <a:solidFill>
                  <a:srgbClr val="ECF0F1"/>
                </a:solidFill>
                <a:latin typeface="Calibri" pitchFamily="34" charset="0"/>
                <a:ea typeface="Calibri" pitchFamily="34" charset="-122"/>
                <a:cs typeface="Calibri" pitchFamily="34" charset="-120"/>
              </a:rPr>
              <a:t>Choropleth mapping (ggplot2)</a:t>
            </a:r>
            <a:endParaRPr lang="en-US" sz="1100" dirty="0"/>
          </a:p>
          <a:p>
            <a:pPr marL="0" indent="0">
              <a:buNone/>
            </a:pPr>
            <a:r>
              <a:rPr lang="en-US" sz="1100" dirty="0">
                <a:solidFill>
                  <a:srgbClr val="ECF0F1"/>
                </a:solidFill>
                <a:latin typeface="Calibri" pitchFamily="34" charset="0"/>
                <a:ea typeface="Calibri" pitchFamily="34" charset="-122"/>
                <a:cs typeface="Calibri" pitchFamily="34" charset="-120"/>
              </a:rPr>
              <a:t>Interactive overlays (leaflet)</a:t>
            </a:r>
            <a:endParaRPr lang="en-US" sz="1100" dirty="0"/>
          </a:p>
          <a:p>
            <a:pPr marL="0" indent="0">
              <a:buNone/>
            </a:pPr>
            <a:r>
              <a:rPr lang="en-US" sz="1100" dirty="0">
                <a:solidFill>
                  <a:srgbClr val="ECF0F1"/>
                </a:solidFill>
                <a:latin typeface="Calibri" pitchFamily="34" charset="0"/>
                <a:ea typeface="Calibri" pitchFamily="34" charset="-122"/>
                <a:cs typeface="Calibri" pitchFamily="34" charset="-120"/>
              </a:rPr>
              <a:t>Agriculture region classification</a:t>
            </a:r>
            <a:endParaRPr lang="en-US" sz="1100" dirty="0"/>
          </a:p>
        </p:txBody>
      </p:sp>
      <p:sp>
        <p:nvSpPr>
          <p:cNvPr id="12" name="Shape 8"/>
          <p:cNvSpPr/>
          <p:nvPr/>
        </p:nvSpPr>
        <p:spPr>
          <a:xfrm>
            <a:off x="274320" y="2926080"/>
            <a:ext cx="4114800" cy="1691640"/>
          </a:xfrm>
          <a:prstGeom prst="rect">
            <a:avLst/>
          </a:prstGeom>
          <a:solidFill>
            <a:srgbClr val="1B3A5C"/>
          </a:solidFill>
          <a:ln/>
          <a:effectLst>
            <a:outerShdw blurRad="101600" dist="50800" dir="16200000" algn="bl" rotWithShape="0">
              <a:srgbClr val="000000">
                <a:alpha val="75000"/>
              </a:srgbClr>
            </a:outerShdw>
          </a:effectLst>
        </p:spPr>
      </p:sp>
      <p:pic>
        <p:nvPicPr>
          <p:cNvPr id="13" name="Image 2" descr="preencoded.png"/>
          <p:cNvPicPr>
            <a:picLocks noChangeAspect="1"/>
          </p:cNvPicPr>
          <p:nvPr/>
        </p:nvPicPr>
        <p:blipFill>
          <a:blip r:embed="rId5"/>
          <a:stretch>
            <a:fillRect/>
          </a:stretch>
        </p:blipFill>
        <p:spPr>
          <a:xfrm>
            <a:off x="411480" y="3090672"/>
            <a:ext cx="411480" cy="411480"/>
          </a:xfrm>
          <a:prstGeom prst="rect">
            <a:avLst/>
          </a:prstGeom>
        </p:spPr>
      </p:pic>
      <p:sp>
        <p:nvSpPr>
          <p:cNvPr id="14" name="Text 9"/>
          <p:cNvSpPr/>
          <p:nvPr/>
        </p:nvSpPr>
        <p:spPr>
          <a:xfrm>
            <a:off x="914400" y="3035808"/>
            <a:ext cx="3291840"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Outputs</a:t>
            </a:r>
            <a:endParaRPr lang="en-US" sz="1500" dirty="0"/>
          </a:p>
        </p:txBody>
      </p:sp>
      <p:sp>
        <p:nvSpPr>
          <p:cNvPr id="15" name="Text 10"/>
          <p:cNvSpPr/>
          <p:nvPr/>
        </p:nvSpPr>
        <p:spPr>
          <a:xfrm>
            <a:off x="411480" y="3474720"/>
            <a:ext cx="3840480" cy="1005840"/>
          </a:xfrm>
          <a:prstGeom prst="rect">
            <a:avLst/>
          </a:prstGeom>
          <a:noFill/>
          <a:ln/>
        </p:spPr>
        <p:txBody>
          <a:bodyPr wrap="square" rtlCol="0" anchor="ctr"/>
          <a:lstStyle/>
          <a:p>
            <a:pPr marL="0" indent="0">
              <a:buNone/>
            </a:pPr>
            <a:r>
              <a:rPr lang="en-US" sz="1100" dirty="0">
                <a:solidFill>
                  <a:srgbClr val="ECF0F1"/>
                </a:solidFill>
                <a:latin typeface="Calibri" pitchFamily="34" charset="0"/>
                <a:ea typeface="Calibri" pitchFamily="34" charset="-122"/>
                <a:cs typeface="Calibri" pitchFamily="34" charset="-120"/>
              </a:rPr>
              <a:t>Static choropleth: suitability score</a:t>
            </a:r>
            <a:endParaRPr lang="en-US" sz="1100" dirty="0"/>
          </a:p>
          <a:p>
            <a:pPr marL="0" indent="0">
              <a:buNone/>
            </a:pPr>
            <a:r>
              <a:rPr lang="en-US" sz="1100" dirty="0">
                <a:solidFill>
                  <a:srgbClr val="ECF0F1"/>
                </a:solidFill>
                <a:latin typeface="Calibri" pitchFamily="34" charset="0"/>
                <a:ea typeface="Calibri" pitchFamily="34" charset="-122"/>
                <a:cs typeface="Calibri" pitchFamily="34" charset="-120"/>
              </a:rPr>
              <a:t>Interactive dot map: agricultural regions</a:t>
            </a:r>
            <a:endParaRPr lang="en-US" sz="1100" dirty="0"/>
          </a:p>
          <a:p>
            <a:pPr marL="0" indent="0">
              <a:buNone/>
            </a:pPr>
            <a:r>
              <a:rPr lang="en-US" sz="1100" dirty="0">
                <a:solidFill>
                  <a:srgbClr val="ECF0F1"/>
                </a:solidFill>
                <a:latin typeface="Calibri" pitchFamily="34" charset="0"/>
                <a:ea typeface="Calibri" pitchFamily="34" charset="-122"/>
                <a:cs typeface="Calibri" pitchFamily="34" charset="-120"/>
              </a:rPr>
              <a:t>Interactive map: top crops per governorate</a:t>
            </a:r>
            <a:endParaRPr lang="en-US" sz="1100" dirty="0"/>
          </a:p>
          <a:p>
            <a:pPr marL="0" indent="0">
              <a:buNone/>
            </a:pPr>
            <a:r>
              <a:rPr lang="en-US" sz="1100" dirty="0">
                <a:solidFill>
                  <a:srgbClr val="ECF0F1"/>
                </a:solidFill>
                <a:latin typeface="Calibri" pitchFamily="34" charset="0"/>
                <a:ea typeface="Calibri" pitchFamily="34" charset="-122"/>
                <a:cs typeface="Calibri" pitchFamily="34" charset="-120"/>
              </a:rPr>
              <a:t>Full spatial analysis report</a:t>
            </a:r>
            <a:endParaRPr lang="en-US" sz="1100" dirty="0"/>
          </a:p>
        </p:txBody>
      </p:sp>
      <p:sp>
        <p:nvSpPr>
          <p:cNvPr id="16" name="Shape 11"/>
          <p:cNvSpPr/>
          <p:nvPr/>
        </p:nvSpPr>
        <p:spPr>
          <a:xfrm>
            <a:off x="4709160" y="2926080"/>
            <a:ext cx="4114800" cy="1691640"/>
          </a:xfrm>
          <a:prstGeom prst="rect">
            <a:avLst/>
          </a:prstGeom>
          <a:solidFill>
            <a:srgbClr val="1B3A5C"/>
          </a:solidFill>
          <a:ln/>
          <a:effectLst>
            <a:outerShdw blurRad="101600" dist="50800" dir="16200000" algn="bl" rotWithShape="0">
              <a:srgbClr val="000000">
                <a:alpha val="75000"/>
              </a:srgbClr>
            </a:outerShdw>
          </a:effectLst>
        </p:spPr>
      </p:sp>
      <p:pic>
        <p:nvPicPr>
          <p:cNvPr id="17" name="Image 3" descr="preencoded.png"/>
          <p:cNvPicPr>
            <a:picLocks noChangeAspect="1"/>
          </p:cNvPicPr>
          <p:nvPr/>
        </p:nvPicPr>
        <p:blipFill>
          <a:blip r:embed="rId6"/>
          <a:stretch>
            <a:fillRect/>
          </a:stretch>
        </p:blipFill>
        <p:spPr>
          <a:xfrm>
            <a:off x="4846320" y="3090672"/>
            <a:ext cx="411480" cy="411480"/>
          </a:xfrm>
          <a:prstGeom prst="rect">
            <a:avLst/>
          </a:prstGeom>
        </p:spPr>
      </p:pic>
      <p:sp>
        <p:nvSpPr>
          <p:cNvPr id="18" name="Text 12"/>
          <p:cNvSpPr/>
          <p:nvPr/>
        </p:nvSpPr>
        <p:spPr>
          <a:xfrm>
            <a:off x="5349240" y="3035808"/>
            <a:ext cx="3291840"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Goal</a:t>
            </a:r>
            <a:endParaRPr lang="en-US" sz="1500" dirty="0"/>
          </a:p>
        </p:txBody>
      </p:sp>
      <p:sp>
        <p:nvSpPr>
          <p:cNvPr id="19" name="Text 13"/>
          <p:cNvSpPr/>
          <p:nvPr/>
        </p:nvSpPr>
        <p:spPr>
          <a:xfrm>
            <a:off x="4846320" y="3474720"/>
            <a:ext cx="3840480" cy="1005840"/>
          </a:xfrm>
          <a:prstGeom prst="rect">
            <a:avLst/>
          </a:prstGeom>
          <a:noFill/>
          <a:ln/>
        </p:spPr>
        <p:txBody>
          <a:bodyPr wrap="square" rtlCol="0" anchor="ctr"/>
          <a:lstStyle/>
          <a:p>
            <a:pPr marL="0" indent="0">
              <a:buNone/>
            </a:pPr>
            <a:r>
              <a:rPr lang="en-US" sz="1100" dirty="0">
                <a:solidFill>
                  <a:srgbClr val="ECF0F1"/>
                </a:solidFill>
                <a:latin typeface="Calibri" pitchFamily="34" charset="0"/>
                <a:ea typeface="Calibri" pitchFamily="34" charset="-122"/>
                <a:cs typeface="Calibri" pitchFamily="34" charset="-120"/>
              </a:rPr>
              <a:t>Understand which governorates are most suitable for agriculture and what crops they grow, using open spatial data.</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Agricultural Suitability Score Map</a:t>
            </a:r>
            <a:endParaRPr lang="en-US" sz="2800" dirty="0"/>
          </a:p>
        </p:txBody>
      </p:sp>
      <p:sp>
        <p:nvSpPr>
          <p:cNvPr id="3" name="Text 1"/>
          <p:cNvSpPr/>
          <p:nvPr/>
        </p:nvSpPr>
        <p:spPr>
          <a:xfrm>
            <a:off x="365760" y="658368"/>
            <a:ext cx="8412480" cy="347472"/>
          </a:xfrm>
          <a:prstGeom prst="rect">
            <a:avLst/>
          </a:prstGeom>
          <a:noFill/>
          <a:ln/>
        </p:spPr>
        <p:txBody>
          <a:bodyPr wrap="square" rtlCol="0" anchor="ctr"/>
          <a:lstStyle/>
          <a:p>
            <a:pPr marL="0" indent="0">
              <a:buNone/>
            </a:pPr>
            <a:r>
              <a:rPr lang="en-US" sz="1200" i="1" dirty="0">
                <a:solidFill>
                  <a:srgbClr val="95A5A6"/>
                </a:solidFill>
                <a:latin typeface="Calibri" pitchFamily="34" charset="0"/>
                <a:ea typeface="Calibri" pitchFamily="34" charset="-122"/>
                <a:cs typeface="Calibri" pitchFamily="34" charset="-120"/>
              </a:rPr>
              <a:t>Score 0–100 based on soil quality, water access &amp; climate conditions across all 27 Egyptian governorates</a:t>
            </a:r>
            <a:endParaRPr lang="en-US" sz="1200" dirty="0"/>
          </a:p>
        </p:txBody>
      </p:sp>
      <p:pic>
        <p:nvPicPr>
          <p:cNvPr id="4" name="Image 0" descr="/home/claude/egypt_suitability_score.png"/>
          <p:cNvPicPr>
            <a:picLocks noChangeAspect="1"/>
          </p:cNvPicPr>
          <p:nvPr/>
        </p:nvPicPr>
        <p:blipFill>
          <a:blip r:embed="rId3"/>
          <a:stretch>
            <a:fillRect/>
          </a:stretch>
        </p:blipFill>
        <p:spPr>
          <a:xfrm>
            <a:off x="182880" y="960120"/>
            <a:ext cx="5669280" cy="3931920"/>
          </a:xfrm>
          <a:prstGeom prst="rect">
            <a:avLst/>
          </a:prstGeom>
        </p:spPr>
      </p:pic>
      <p:sp>
        <p:nvSpPr>
          <p:cNvPr id="5" name="Shape 2"/>
          <p:cNvSpPr/>
          <p:nvPr/>
        </p:nvSpPr>
        <p:spPr>
          <a:xfrm>
            <a:off x="6080760" y="1005840"/>
            <a:ext cx="2834640" cy="868680"/>
          </a:xfrm>
          <a:prstGeom prst="rect">
            <a:avLst/>
          </a:prstGeom>
          <a:solidFill>
            <a:srgbClr val="1B3A5C"/>
          </a:solidFill>
          <a:ln/>
        </p:spPr>
      </p:sp>
      <p:sp>
        <p:nvSpPr>
          <p:cNvPr id="6" name="Text 3"/>
          <p:cNvSpPr/>
          <p:nvPr/>
        </p:nvSpPr>
        <p:spPr>
          <a:xfrm>
            <a:off x="6172200" y="1042416"/>
            <a:ext cx="822960" cy="502920"/>
          </a:xfrm>
          <a:prstGeom prst="rect">
            <a:avLst/>
          </a:prstGeom>
          <a:noFill/>
          <a:ln/>
        </p:spPr>
        <p:txBody>
          <a:bodyPr wrap="square" lIns="0" tIns="0" rIns="0" bIns="0" rtlCol="0" anchor="ctr"/>
          <a:lstStyle/>
          <a:p>
            <a:pPr marL="0" indent="0">
              <a:buNone/>
            </a:pPr>
            <a:r>
              <a:rPr lang="en-US" sz="2800" b="1" dirty="0">
                <a:solidFill>
                  <a:srgbClr val="2ECC71"/>
                </a:solidFill>
                <a:latin typeface="Calibri" pitchFamily="34" charset="0"/>
                <a:ea typeface="Calibri" pitchFamily="34" charset="-122"/>
                <a:cs typeface="Calibri" pitchFamily="34" charset="-120"/>
              </a:rPr>
              <a:t>90</a:t>
            </a:r>
            <a:endParaRPr lang="en-US" sz="2800" dirty="0"/>
          </a:p>
        </p:txBody>
      </p:sp>
      <p:sp>
        <p:nvSpPr>
          <p:cNvPr id="7" name="Text 4"/>
          <p:cNvSpPr/>
          <p:nvPr/>
        </p:nvSpPr>
        <p:spPr>
          <a:xfrm>
            <a:off x="6995160" y="1042416"/>
            <a:ext cx="18288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Highest Score</a:t>
            </a:r>
            <a:endParaRPr lang="en-US" sz="1100" dirty="0"/>
          </a:p>
        </p:txBody>
      </p:sp>
      <p:sp>
        <p:nvSpPr>
          <p:cNvPr id="8" name="Text 5"/>
          <p:cNvSpPr/>
          <p:nvPr/>
        </p:nvSpPr>
        <p:spPr>
          <a:xfrm>
            <a:off x="6995160" y="1335024"/>
            <a:ext cx="1828800" cy="274320"/>
          </a:xfrm>
          <a:prstGeom prst="rect">
            <a:avLst/>
          </a:prstGeom>
          <a:noFill/>
          <a:ln/>
        </p:spPr>
        <p:txBody>
          <a:bodyPr wrap="square" lIns="0" tIns="0" rIns="0" bIns="0" rtlCol="0" anchor="ctr"/>
          <a:lstStyle/>
          <a:p>
            <a:pPr marL="0" indent="0">
              <a:buNone/>
            </a:pPr>
            <a:r>
              <a:rPr lang="en-US" sz="900" dirty="0">
                <a:solidFill>
                  <a:srgbClr val="95A5A6"/>
                </a:solidFill>
                <a:latin typeface="Calibri" pitchFamily="34" charset="0"/>
                <a:ea typeface="Calibri" pitchFamily="34" charset="-122"/>
                <a:cs typeface="Calibri" pitchFamily="34" charset="-120"/>
              </a:rPr>
              <a:t>Ad Daqahliyah (Rich Delta Soil)</a:t>
            </a:r>
            <a:endParaRPr lang="en-US" sz="900" dirty="0"/>
          </a:p>
        </p:txBody>
      </p:sp>
      <p:sp>
        <p:nvSpPr>
          <p:cNvPr id="9" name="Shape 6"/>
          <p:cNvSpPr/>
          <p:nvPr/>
        </p:nvSpPr>
        <p:spPr>
          <a:xfrm>
            <a:off x="6080760" y="2011680"/>
            <a:ext cx="2834640" cy="868680"/>
          </a:xfrm>
          <a:prstGeom prst="rect">
            <a:avLst/>
          </a:prstGeom>
          <a:solidFill>
            <a:srgbClr val="1B3A5C"/>
          </a:solidFill>
          <a:ln/>
        </p:spPr>
      </p:sp>
      <p:sp>
        <p:nvSpPr>
          <p:cNvPr id="10" name="Text 7"/>
          <p:cNvSpPr/>
          <p:nvPr/>
        </p:nvSpPr>
        <p:spPr>
          <a:xfrm>
            <a:off x="6172200" y="2048256"/>
            <a:ext cx="822960" cy="502920"/>
          </a:xfrm>
          <a:prstGeom prst="rect">
            <a:avLst/>
          </a:prstGeom>
          <a:noFill/>
          <a:ln/>
        </p:spPr>
        <p:txBody>
          <a:bodyPr wrap="square" lIns="0" tIns="0" rIns="0" bIns="0" rtlCol="0" anchor="ctr"/>
          <a:lstStyle/>
          <a:p>
            <a:pPr marL="0" indent="0">
              <a:buNone/>
            </a:pPr>
            <a:r>
              <a:rPr lang="en-US" sz="2800" b="1" dirty="0">
                <a:solidFill>
                  <a:srgbClr val="E74C3C"/>
                </a:solidFill>
                <a:latin typeface="Calibri" pitchFamily="34" charset="0"/>
                <a:ea typeface="Calibri" pitchFamily="34" charset="-122"/>
                <a:cs typeface="Calibri" pitchFamily="34" charset="-120"/>
              </a:rPr>
              <a:t>38</a:t>
            </a:r>
            <a:endParaRPr lang="en-US" sz="2800" dirty="0"/>
          </a:p>
        </p:txBody>
      </p:sp>
      <p:sp>
        <p:nvSpPr>
          <p:cNvPr id="11" name="Text 8"/>
          <p:cNvSpPr/>
          <p:nvPr/>
        </p:nvSpPr>
        <p:spPr>
          <a:xfrm>
            <a:off x="6995160" y="2048256"/>
            <a:ext cx="18288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Lowest Score</a:t>
            </a:r>
            <a:endParaRPr lang="en-US" sz="1100" dirty="0"/>
          </a:p>
        </p:txBody>
      </p:sp>
      <p:sp>
        <p:nvSpPr>
          <p:cNvPr id="12" name="Text 9"/>
          <p:cNvSpPr/>
          <p:nvPr/>
        </p:nvSpPr>
        <p:spPr>
          <a:xfrm>
            <a:off x="6995160" y="2340864"/>
            <a:ext cx="1828800" cy="274320"/>
          </a:xfrm>
          <a:prstGeom prst="rect">
            <a:avLst/>
          </a:prstGeom>
          <a:noFill/>
          <a:ln/>
        </p:spPr>
        <p:txBody>
          <a:bodyPr wrap="square" lIns="0" tIns="0" rIns="0" bIns="0" rtlCol="0" anchor="ctr"/>
          <a:lstStyle/>
          <a:p>
            <a:pPr marL="0" indent="0">
              <a:buNone/>
            </a:pPr>
            <a:r>
              <a:rPr lang="en-US" sz="900" dirty="0">
                <a:solidFill>
                  <a:srgbClr val="95A5A6"/>
                </a:solidFill>
                <a:latin typeface="Calibri" pitchFamily="34" charset="0"/>
                <a:ea typeface="Calibri" pitchFamily="34" charset="-122"/>
                <a:cs typeface="Calibri" pitchFamily="34" charset="-120"/>
              </a:rPr>
              <a:t>Janub Sina' (Arid Desert)</a:t>
            </a:r>
            <a:endParaRPr lang="en-US" sz="900" dirty="0"/>
          </a:p>
        </p:txBody>
      </p:sp>
      <p:sp>
        <p:nvSpPr>
          <p:cNvPr id="13" name="Shape 10"/>
          <p:cNvSpPr/>
          <p:nvPr/>
        </p:nvSpPr>
        <p:spPr>
          <a:xfrm>
            <a:off x="6080760" y="3017520"/>
            <a:ext cx="2834640" cy="868680"/>
          </a:xfrm>
          <a:prstGeom prst="rect">
            <a:avLst/>
          </a:prstGeom>
          <a:solidFill>
            <a:srgbClr val="1B3A5C"/>
          </a:solidFill>
          <a:ln/>
        </p:spPr>
      </p:sp>
      <p:sp>
        <p:nvSpPr>
          <p:cNvPr id="14" name="Text 11"/>
          <p:cNvSpPr/>
          <p:nvPr/>
        </p:nvSpPr>
        <p:spPr>
          <a:xfrm>
            <a:off x="6172200" y="3054096"/>
            <a:ext cx="822960" cy="502920"/>
          </a:xfrm>
          <a:prstGeom prst="rect">
            <a:avLst/>
          </a:prstGeom>
          <a:noFill/>
          <a:ln/>
        </p:spPr>
        <p:txBody>
          <a:bodyPr wrap="square" lIns="0" tIns="0" rIns="0" bIns="0" rtlCol="0" anchor="ctr"/>
          <a:lstStyle/>
          <a:p>
            <a:pPr marL="0" indent="0">
              <a:buNone/>
            </a:pPr>
            <a:r>
              <a:rPr lang="en-US" sz="2800" b="1" dirty="0">
                <a:solidFill>
                  <a:srgbClr val="3498DB"/>
                </a:solidFill>
                <a:latin typeface="Calibri" pitchFamily="34" charset="0"/>
                <a:ea typeface="Calibri" pitchFamily="34" charset="-122"/>
                <a:cs typeface="Calibri" pitchFamily="34" charset="-120"/>
              </a:rPr>
              <a:t>87</a:t>
            </a:r>
            <a:endParaRPr lang="en-US" sz="2800" dirty="0"/>
          </a:p>
        </p:txBody>
      </p:sp>
      <p:sp>
        <p:nvSpPr>
          <p:cNvPr id="15" name="Text 12"/>
          <p:cNvSpPr/>
          <p:nvPr/>
        </p:nvSpPr>
        <p:spPr>
          <a:xfrm>
            <a:off x="6995160" y="3054096"/>
            <a:ext cx="18288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Delta Avg</a:t>
            </a:r>
            <a:endParaRPr lang="en-US" sz="1100" dirty="0"/>
          </a:p>
        </p:txBody>
      </p:sp>
      <p:sp>
        <p:nvSpPr>
          <p:cNvPr id="16" name="Text 13"/>
          <p:cNvSpPr/>
          <p:nvPr/>
        </p:nvSpPr>
        <p:spPr>
          <a:xfrm>
            <a:off x="6995160" y="3346704"/>
            <a:ext cx="1828800" cy="274320"/>
          </a:xfrm>
          <a:prstGeom prst="rect">
            <a:avLst/>
          </a:prstGeom>
          <a:noFill/>
          <a:ln/>
        </p:spPr>
        <p:txBody>
          <a:bodyPr wrap="square" lIns="0" tIns="0" rIns="0" bIns="0" rtlCol="0" anchor="ctr"/>
          <a:lstStyle/>
          <a:p>
            <a:pPr marL="0" indent="0">
              <a:buNone/>
            </a:pPr>
            <a:r>
              <a:rPr lang="en-US" sz="900" dirty="0">
                <a:solidFill>
                  <a:srgbClr val="95A5A6"/>
                </a:solidFill>
                <a:latin typeface="Calibri" pitchFamily="34" charset="0"/>
                <a:ea typeface="Calibri" pitchFamily="34" charset="-122"/>
                <a:cs typeface="Calibri" pitchFamily="34" charset="-120"/>
              </a:rPr>
              <a:t>Nile Delta Governorates</a:t>
            </a:r>
            <a:endParaRPr lang="en-US" sz="900" dirty="0"/>
          </a:p>
        </p:txBody>
      </p:sp>
      <p:sp>
        <p:nvSpPr>
          <p:cNvPr id="17" name="Shape 14"/>
          <p:cNvSpPr/>
          <p:nvPr/>
        </p:nvSpPr>
        <p:spPr>
          <a:xfrm>
            <a:off x="6080760" y="4023360"/>
            <a:ext cx="2834640" cy="868680"/>
          </a:xfrm>
          <a:prstGeom prst="rect">
            <a:avLst/>
          </a:prstGeom>
          <a:solidFill>
            <a:srgbClr val="1B3A5C"/>
          </a:solidFill>
          <a:ln/>
        </p:spPr>
      </p:sp>
      <p:sp>
        <p:nvSpPr>
          <p:cNvPr id="18" name="Text 15"/>
          <p:cNvSpPr/>
          <p:nvPr/>
        </p:nvSpPr>
        <p:spPr>
          <a:xfrm>
            <a:off x="6172200" y="4059936"/>
            <a:ext cx="822960" cy="502920"/>
          </a:xfrm>
          <a:prstGeom prst="rect">
            <a:avLst/>
          </a:prstGeom>
          <a:noFill/>
          <a:ln/>
        </p:spPr>
        <p:txBody>
          <a:bodyPr wrap="square" lIns="0" tIns="0" rIns="0" bIns="0" rtlCol="0" anchor="ctr"/>
          <a:lstStyle/>
          <a:p>
            <a:pPr marL="0" indent="0">
              <a:buNone/>
            </a:pPr>
            <a:r>
              <a:rPr lang="en-US" sz="2800" b="1" dirty="0">
                <a:solidFill>
                  <a:srgbClr val="F39C12"/>
                </a:solidFill>
                <a:latin typeface="Calibri" pitchFamily="34" charset="0"/>
                <a:ea typeface="Calibri" pitchFamily="34" charset="-122"/>
                <a:cs typeface="Calibri" pitchFamily="34" charset="-120"/>
              </a:rPr>
              <a:t>49</a:t>
            </a:r>
            <a:endParaRPr lang="en-US" sz="2800" dirty="0"/>
          </a:p>
        </p:txBody>
      </p:sp>
      <p:sp>
        <p:nvSpPr>
          <p:cNvPr id="19" name="Text 16"/>
          <p:cNvSpPr/>
          <p:nvPr/>
        </p:nvSpPr>
        <p:spPr>
          <a:xfrm>
            <a:off x="6995160" y="4059936"/>
            <a:ext cx="18288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Desert Avg</a:t>
            </a:r>
            <a:endParaRPr lang="en-US" sz="1100" dirty="0"/>
          </a:p>
        </p:txBody>
      </p:sp>
      <p:sp>
        <p:nvSpPr>
          <p:cNvPr id="20" name="Text 17"/>
          <p:cNvSpPr/>
          <p:nvPr/>
        </p:nvSpPr>
        <p:spPr>
          <a:xfrm>
            <a:off x="6995160" y="4352544"/>
            <a:ext cx="1828800" cy="274320"/>
          </a:xfrm>
          <a:prstGeom prst="rect">
            <a:avLst/>
          </a:prstGeom>
          <a:noFill/>
          <a:ln/>
        </p:spPr>
        <p:txBody>
          <a:bodyPr wrap="square" lIns="0" tIns="0" rIns="0" bIns="0" rtlCol="0" anchor="ctr"/>
          <a:lstStyle/>
          <a:p>
            <a:pPr marL="0" indent="0">
              <a:buNone/>
            </a:pPr>
            <a:r>
              <a:rPr lang="en-US" sz="900" dirty="0">
                <a:solidFill>
                  <a:srgbClr val="95A5A6"/>
                </a:solidFill>
                <a:latin typeface="Calibri" pitchFamily="34" charset="0"/>
                <a:ea typeface="Calibri" pitchFamily="34" charset="-122"/>
                <a:cs typeface="Calibri" pitchFamily="34" charset="-120"/>
              </a:rPr>
              <a:t>Desert / Red Sea Govs.</a:t>
            </a:r>
            <a:endParaRPr lang="en-US" sz="900" dirty="0"/>
          </a:p>
        </p:txBody>
      </p:sp>
      <p:sp>
        <p:nvSpPr>
          <p:cNvPr id="21" name="Shape 18"/>
          <p:cNvSpPr/>
          <p:nvPr/>
        </p:nvSpPr>
        <p:spPr>
          <a:xfrm>
            <a:off x="6080760" y="5047488"/>
            <a:ext cx="2834640" cy="36576"/>
          </a:xfrm>
          <a:prstGeom prst="rect">
            <a:avLst/>
          </a:prstGeom>
          <a:solidFill>
            <a:srgbClr val="2ECC71"/>
          </a:solidFill>
          <a:ln w="12700">
            <a:solidFill>
              <a:srgbClr val="2ECC71"/>
            </a:solidFill>
            <a:prstDash val="solid"/>
          </a:ln>
        </p:spPr>
      </p:sp>
      <p:sp>
        <p:nvSpPr>
          <p:cNvPr id="22" name="Text 19"/>
          <p:cNvSpPr/>
          <p:nvPr/>
        </p:nvSpPr>
        <p:spPr>
          <a:xfrm>
            <a:off x="6080760" y="4754880"/>
            <a:ext cx="2834640" cy="274320"/>
          </a:xfrm>
          <a:prstGeom prst="rect">
            <a:avLst/>
          </a:prstGeom>
          <a:noFill/>
          <a:ln/>
        </p:spPr>
        <p:txBody>
          <a:bodyPr wrap="square" rtlCol="0" anchor="ctr"/>
          <a:lstStyle/>
          <a:p>
            <a:pPr marL="0" indent="0" algn="ctr">
              <a:buNone/>
            </a:pPr>
            <a:r>
              <a:rPr lang="en-US" sz="1000" dirty="0">
                <a:solidFill>
                  <a:srgbClr val="95A5A6"/>
                </a:solidFill>
                <a:latin typeface="Calibri" pitchFamily="34" charset="0"/>
                <a:ea typeface="Calibri" pitchFamily="34" charset="-122"/>
                <a:cs typeface="Calibri" pitchFamily="34" charset="-120"/>
              </a:rPr>
              <a:t>🟢 Green = High suitability   🔴 Red = Low</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Agricultural Regions — Interactive Map</a:t>
            </a:r>
            <a:endParaRPr lang="en-US" sz="2800" dirty="0"/>
          </a:p>
        </p:txBody>
      </p:sp>
      <p:sp>
        <p:nvSpPr>
          <p:cNvPr id="3" name="Text 1"/>
          <p:cNvSpPr/>
          <p:nvPr/>
        </p:nvSpPr>
        <p:spPr>
          <a:xfrm>
            <a:off x="365760" y="658368"/>
            <a:ext cx="8412480" cy="347472"/>
          </a:xfrm>
          <a:prstGeom prst="rect">
            <a:avLst/>
          </a:prstGeom>
          <a:noFill/>
          <a:ln/>
        </p:spPr>
        <p:txBody>
          <a:bodyPr wrap="square" rtlCol="0" anchor="ctr"/>
          <a:lstStyle/>
          <a:p>
            <a:pPr marL="0" indent="0">
              <a:buNone/>
            </a:pPr>
            <a:r>
              <a:rPr lang="en-US" sz="1200" i="1" dirty="0">
                <a:solidFill>
                  <a:srgbClr val="95A5A6"/>
                </a:solidFill>
                <a:latin typeface="Calibri" pitchFamily="34" charset="0"/>
                <a:ea typeface="Calibri" pitchFamily="34" charset="-122"/>
                <a:cs typeface="Calibri" pitchFamily="34" charset="-120"/>
              </a:rPr>
              <a:t>Each governorate classified into one of 7 agricultural regions, displayed with color-coded dot markers (Leaflet / OpenStreetMap)</a:t>
            </a:r>
            <a:endParaRPr lang="en-US" sz="1200" dirty="0"/>
          </a:p>
        </p:txBody>
      </p:sp>
      <p:pic>
        <p:nvPicPr>
          <p:cNvPr id="4" name="Image 0" descr="/home/claude/egypt_meaningful_map.png"/>
          <p:cNvPicPr>
            <a:picLocks noChangeAspect="1"/>
          </p:cNvPicPr>
          <p:nvPr/>
        </p:nvPicPr>
        <p:blipFill>
          <a:blip r:embed="rId3"/>
          <a:stretch>
            <a:fillRect/>
          </a:stretch>
        </p:blipFill>
        <p:spPr>
          <a:xfrm>
            <a:off x="137160" y="960120"/>
            <a:ext cx="6035040" cy="3931920"/>
          </a:xfrm>
          <a:prstGeom prst="rect">
            <a:avLst/>
          </a:prstGeom>
        </p:spPr>
      </p:pic>
      <p:sp>
        <p:nvSpPr>
          <p:cNvPr id="5" name="Shape 2"/>
          <p:cNvSpPr/>
          <p:nvPr/>
        </p:nvSpPr>
        <p:spPr>
          <a:xfrm>
            <a:off x="6400800" y="960120"/>
            <a:ext cx="2560320" cy="3931920"/>
          </a:xfrm>
          <a:prstGeom prst="rect">
            <a:avLst/>
          </a:prstGeom>
          <a:solidFill>
            <a:srgbClr val="1B3A5C"/>
          </a:solidFill>
          <a:ln/>
        </p:spPr>
      </p:sp>
      <p:sp>
        <p:nvSpPr>
          <p:cNvPr id="6" name="Text 3"/>
          <p:cNvSpPr/>
          <p:nvPr/>
        </p:nvSpPr>
        <p:spPr>
          <a:xfrm>
            <a:off x="6492240" y="1024128"/>
            <a:ext cx="237744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Agricultural Regions</a:t>
            </a:r>
            <a:endParaRPr lang="en-US" sz="1200" dirty="0"/>
          </a:p>
        </p:txBody>
      </p:sp>
      <p:sp>
        <p:nvSpPr>
          <p:cNvPr id="7" name="Shape 4"/>
          <p:cNvSpPr/>
          <p:nvPr/>
        </p:nvSpPr>
        <p:spPr>
          <a:xfrm>
            <a:off x="6537960" y="1453896"/>
            <a:ext cx="256032" cy="256032"/>
          </a:xfrm>
          <a:prstGeom prst="ellipse">
            <a:avLst/>
          </a:prstGeom>
          <a:solidFill>
            <a:srgbClr val="4472C4"/>
          </a:solidFill>
          <a:ln w="12700">
            <a:solidFill>
              <a:srgbClr val="4472C4"/>
            </a:solidFill>
            <a:prstDash val="solid"/>
          </a:ln>
        </p:spPr>
      </p:sp>
      <p:sp>
        <p:nvSpPr>
          <p:cNvPr id="8" name="Text 5"/>
          <p:cNvSpPr/>
          <p:nvPr/>
        </p:nvSpPr>
        <p:spPr>
          <a:xfrm>
            <a:off x="6876288" y="1417320"/>
            <a:ext cx="2011680" cy="320040"/>
          </a:xfrm>
          <a:prstGeom prst="rect">
            <a:avLst/>
          </a:prstGeom>
          <a:noFill/>
          <a:ln/>
        </p:spPr>
        <p:txBody>
          <a:bodyPr wrap="square" lIns="0" tIns="0" rIns="0" bIns="0" rtlCol="0" anchor="ctr"/>
          <a:lstStyle/>
          <a:p>
            <a:pPr marL="0" indent="0">
              <a:buNone/>
            </a:pPr>
            <a:r>
              <a:rPr lang="en-US" sz="1200" dirty="0">
                <a:solidFill>
                  <a:srgbClr val="ECF0F1"/>
                </a:solidFill>
                <a:latin typeface="Calibri" pitchFamily="34" charset="0"/>
                <a:ea typeface="Calibri" pitchFamily="34" charset="-122"/>
                <a:cs typeface="Calibri" pitchFamily="34" charset="-120"/>
              </a:rPr>
              <a:t>Delta</a:t>
            </a:r>
            <a:endParaRPr lang="en-US" sz="1200" dirty="0"/>
          </a:p>
        </p:txBody>
      </p:sp>
      <p:sp>
        <p:nvSpPr>
          <p:cNvPr id="9" name="Shape 6"/>
          <p:cNvSpPr/>
          <p:nvPr/>
        </p:nvSpPr>
        <p:spPr>
          <a:xfrm>
            <a:off x="6537960" y="1911096"/>
            <a:ext cx="256032" cy="256032"/>
          </a:xfrm>
          <a:prstGeom prst="ellipse">
            <a:avLst/>
          </a:prstGeom>
          <a:solidFill>
            <a:srgbClr val="FFFF00"/>
          </a:solidFill>
          <a:ln w="12700">
            <a:solidFill>
              <a:srgbClr val="FFFF00"/>
            </a:solidFill>
            <a:prstDash val="solid"/>
          </a:ln>
        </p:spPr>
      </p:sp>
      <p:sp>
        <p:nvSpPr>
          <p:cNvPr id="10" name="Text 7"/>
          <p:cNvSpPr/>
          <p:nvPr/>
        </p:nvSpPr>
        <p:spPr>
          <a:xfrm>
            <a:off x="6876288" y="1874520"/>
            <a:ext cx="2011680" cy="320040"/>
          </a:xfrm>
          <a:prstGeom prst="rect">
            <a:avLst/>
          </a:prstGeom>
          <a:noFill/>
          <a:ln/>
        </p:spPr>
        <p:txBody>
          <a:bodyPr wrap="square" lIns="0" tIns="0" rIns="0" bIns="0" rtlCol="0" anchor="ctr"/>
          <a:lstStyle/>
          <a:p>
            <a:pPr marL="0" indent="0">
              <a:buNone/>
            </a:pPr>
            <a:r>
              <a:rPr lang="en-US" sz="1200" dirty="0">
                <a:solidFill>
                  <a:srgbClr val="ECF0F1"/>
                </a:solidFill>
                <a:latin typeface="Calibri" pitchFamily="34" charset="0"/>
                <a:ea typeface="Calibri" pitchFamily="34" charset="-122"/>
                <a:cs typeface="Calibri" pitchFamily="34" charset="-120"/>
              </a:rPr>
              <a:t>Upper Egypt</a:t>
            </a:r>
            <a:endParaRPr lang="en-US" sz="1200" dirty="0"/>
          </a:p>
        </p:txBody>
      </p:sp>
      <p:sp>
        <p:nvSpPr>
          <p:cNvPr id="11" name="Shape 8"/>
          <p:cNvSpPr/>
          <p:nvPr/>
        </p:nvSpPr>
        <p:spPr>
          <a:xfrm>
            <a:off x="6537960" y="2368296"/>
            <a:ext cx="256032" cy="256032"/>
          </a:xfrm>
          <a:prstGeom prst="ellipse">
            <a:avLst/>
          </a:prstGeom>
          <a:solidFill>
            <a:srgbClr val="FF0000"/>
          </a:solidFill>
          <a:ln w="12700">
            <a:solidFill>
              <a:srgbClr val="FF0000"/>
            </a:solidFill>
            <a:prstDash val="solid"/>
          </a:ln>
        </p:spPr>
      </p:sp>
      <p:sp>
        <p:nvSpPr>
          <p:cNvPr id="12" name="Text 9"/>
          <p:cNvSpPr/>
          <p:nvPr/>
        </p:nvSpPr>
        <p:spPr>
          <a:xfrm>
            <a:off x="6876288" y="2331720"/>
            <a:ext cx="2011680" cy="320040"/>
          </a:xfrm>
          <a:prstGeom prst="rect">
            <a:avLst/>
          </a:prstGeom>
          <a:noFill/>
          <a:ln/>
        </p:spPr>
        <p:txBody>
          <a:bodyPr wrap="square" lIns="0" tIns="0" rIns="0" bIns="0" rtlCol="0" anchor="ctr"/>
          <a:lstStyle/>
          <a:p>
            <a:pPr marL="0" indent="0">
              <a:buNone/>
            </a:pPr>
            <a:r>
              <a:rPr lang="en-US" sz="1200" dirty="0">
                <a:solidFill>
                  <a:srgbClr val="ECF0F1"/>
                </a:solidFill>
                <a:latin typeface="Calibri" pitchFamily="34" charset="0"/>
                <a:ea typeface="Calibri" pitchFamily="34" charset="-122"/>
                <a:cs typeface="Calibri" pitchFamily="34" charset="-120"/>
              </a:rPr>
              <a:t>Coast</a:t>
            </a:r>
            <a:endParaRPr lang="en-US" sz="1200" dirty="0"/>
          </a:p>
        </p:txBody>
      </p:sp>
      <p:sp>
        <p:nvSpPr>
          <p:cNvPr id="13" name="Shape 10"/>
          <p:cNvSpPr/>
          <p:nvPr/>
        </p:nvSpPr>
        <p:spPr>
          <a:xfrm>
            <a:off x="6537960" y="2825496"/>
            <a:ext cx="256032" cy="256032"/>
          </a:xfrm>
          <a:prstGeom prst="ellipse">
            <a:avLst/>
          </a:prstGeom>
          <a:solidFill>
            <a:srgbClr val="7030A0"/>
          </a:solidFill>
          <a:ln w="12700">
            <a:solidFill>
              <a:srgbClr val="7030A0"/>
            </a:solidFill>
            <a:prstDash val="solid"/>
          </a:ln>
        </p:spPr>
      </p:sp>
      <p:sp>
        <p:nvSpPr>
          <p:cNvPr id="14" name="Text 11"/>
          <p:cNvSpPr/>
          <p:nvPr/>
        </p:nvSpPr>
        <p:spPr>
          <a:xfrm>
            <a:off x="6876288" y="2788920"/>
            <a:ext cx="2011680" cy="320040"/>
          </a:xfrm>
          <a:prstGeom prst="rect">
            <a:avLst/>
          </a:prstGeom>
          <a:noFill/>
          <a:ln/>
        </p:spPr>
        <p:txBody>
          <a:bodyPr wrap="square" lIns="0" tIns="0" rIns="0" bIns="0" rtlCol="0" anchor="ctr"/>
          <a:lstStyle/>
          <a:p>
            <a:pPr marL="0" indent="0">
              <a:buNone/>
            </a:pPr>
            <a:r>
              <a:rPr lang="en-US" sz="1200" dirty="0">
                <a:solidFill>
                  <a:srgbClr val="ECF0F1"/>
                </a:solidFill>
                <a:latin typeface="Calibri" pitchFamily="34" charset="0"/>
                <a:ea typeface="Calibri" pitchFamily="34" charset="-122"/>
                <a:cs typeface="Calibri" pitchFamily="34" charset="-120"/>
              </a:rPr>
              <a:t>Middle</a:t>
            </a:r>
            <a:endParaRPr lang="en-US" sz="1200" dirty="0"/>
          </a:p>
        </p:txBody>
      </p:sp>
      <p:sp>
        <p:nvSpPr>
          <p:cNvPr id="15" name="Shape 12"/>
          <p:cNvSpPr/>
          <p:nvPr/>
        </p:nvSpPr>
        <p:spPr>
          <a:xfrm>
            <a:off x="6537960" y="3282696"/>
            <a:ext cx="256032" cy="256032"/>
          </a:xfrm>
          <a:prstGeom prst="ellipse">
            <a:avLst/>
          </a:prstGeom>
          <a:solidFill>
            <a:srgbClr val="00B050"/>
          </a:solidFill>
          <a:ln w="12700">
            <a:solidFill>
              <a:srgbClr val="00B050"/>
            </a:solidFill>
            <a:prstDash val="solid"/>
          </a:ln>
        </p:spPr>
      </p:sp>
      <p:sp>
        <p:nvSpPr>
          <p:cNvPr id="16" name="Text 13"/>
          <p:cNvSpPr/>
          <p:nvPr/>
        </p:nvSpPr>
        <p:spPr>
          <a:xfrm>
            <a:off x="6876288" y="3246120"/>
            <a:ext cx="2011680" cy="320040"/>
          </a:xfrm>
          <a:prstGeom prst="rect">
            <a:avLst/>
          </a:prstGeom>
          <a:noFill/>
          <a:ln/>
        </p:spPr>
        <p:txBody>
          <a:bodyPr wrap="square" lIns="0" tIns="0" rIns="0" bIns="0" rtlCol="0" anchor="ctr"/>
          <a:lstStyle/>
          <a:p>
            <a:pPr marL="0" indent="0">
              <a:buNone/>
            </a:pPr>
            <a:r>
              <a:rPr lang="en-US" sz="1200" dirty="0">
                <a:solidFill>
                  <a:srgbClr val="ECF0F1"/>
                </a:solidFill>
                <a:latin typeface="Calibri" pitchFamily="34" charset="0"/>
                <a:ea typeface="Calibri" pitchFamily="34" charset="-122"/>
                <a:cs typeface="Calibri" pitchFamily="34" charset="-120"/>
              </a:rPr>
              <a:t>Desert</a:t>
            </a:r>
            <a:endParaRPr lang="en-US" sz="1200" dirty="0"/>
          </a:p>
        </p:txBody>
      </p:sp>
      <p:sp>
        <p:nvSpPr>
          <p:cNvPr id="17" name="Shape 14"/>
          <p:cNvSpPr/>
          <p:nvPr/>
        </p:nvSpPr>
        <p:spPr>
          <a:xfrm>
            <a:off x="6537960" y="3739896"/>
            <a:ext cx="256032" cy="256032"/>
          </a:xfrm>
          <a:prstGeom prst="ellipse">
            <a:avLst/>
          </a:prstGeom>
          <a:solidFill>
            <a:srgbClr val="00B0F0"/>
          </a:solidFill>
          <a:ln w="12700">
            <a:solidFill>
              <a:srgbClr val="00B0F0"/>
            </a:solidFill>
            <a:prstDash val="solid"/>
          </a:ln>
        </p:spPr>
      </p:sp>
      <p:sp>
        <p:nvSpPr>
          <p:cNvPr id="18" name="Text 15"/>
          <p:cNvSpPr/>
          <p:nvPr/>
        </p:nvSpPr>
        <p:spPr>
          <a:xfrm>
            <a:off x="6876288" y="3703320"/>
            <a:ext cx="2011680" cy="320040"/>
          </a:xfrm>
          <a:prstGeom prst="rect">
            <a:avLst/>
          </a:prstGeom>
          <a:noFill/>
          <a:ln/>
        </p:spPr>
        <p:txBody>
          <a:bodyPr wrap="square" lIns="0" tIns="0" rIns="0" bIns="0" rtlCol="0" anchor="ctr"/>
          <a:lstStyle/>
          <a:p>
            <a:pPr marL="0" indent="0">
              <a:buNone/>
            </a:pPr>
            <a:r>
              <a:rPr lang="en-US" sz="1200" dirty="0">
                <a:solidFill>
                  <a:srgbClr val="ECF0F1"/>
                </a:solidFill>
                <a:latin typeface="Calibri" pitchFamily="34" charset="0"/>
                <a:ea typeface="Calibri" pitchFamily="34" charset="-122"/>
                <a:cs typeface="Calibri" pitchFamily="34" charset="-120"/>
              </a:rPr>
              <a:t>Suez Canal</a:t>
            </a:r>
            <a:endParaRPr lang="en-US" sz="1200" dirty="0"/>
          </a:p>
        </p:txBody>
      </p:sp>
      <p:sp>
        <p:nvSpPr>
          <p:cNvPr id="19" name="Shape 16"/>
          <p:cNvSpPr/>
          <p:nvPr/>
        </p:nvSpPr>
        <p:spPr>
          <a:xfrm>
            <a:off x="6537960" y="4197096"/>
            <a:ext cx="256032" cy="256032"/>
          </a:xfrm>
          <a:prstGeom prst="ellipse">
            <a:avLst/>
          </a:prstGeom>
          <a:solidFill>
            <a:srgbClr val="FFC000"/>
          </a:solidFill>
          <a:ln w="12700">
            <a:solidFill>
              <a:srgbClr val="FFC000"/>
            </a:solidFill>
            <a:prstDash val="solid"/>
          </a:ln>
        </p:spPr>
      </p:sp>
      <p:sp>
        <p:nvSpPr>
          <p:cNvPr id="20" name="Text 17"/>
          <p:cNvSpPr/>
          <p:nvPr/>
        </p:nvSpPr>
        <p:spPr>
          <a:xfrm>
            <a:off x="6876288" y="4160520"/>
            <a:ext cx="2011680" cy="320040"/>
          </a:xfrm>
          <a:prstGeom prst="rect">
            <a:avLst/>
          </a:prstGeom>
          <a:noFill/>
          <a:ln/>
        </p:spPr>
        <p:txBody>
          <a:bodyPr wrap="square" lIns="0" tIns="0" rIns="0" bIns="0" rtlCol="0" anchor="ctr"/>
          <a:lstStyle/>
          <a:p>
            <a:pPr marL="0" indent="0">
              <a:buNone/>
            </a:pPr>
            <a:r>
              <a:rPr lang="en-US" sz="1200" dirty="0">
                <a:solidFill>
                  <a:srgbClr val="ECF0F1"/>
                </a:solidFill>
                <a:latin typeface="Calibri" pitchFamily="34" charset="0"/>
                <a:ea typeface="Calibri" pitchFamily="34" charset="-122"/>
                <a:cs typeface="Calibri" pitchFamily="34" charset="-120"/>
              </a:rPr>
              <a:t>Urban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Top Crops by Agricultural Region</a:t>
            </a:r>
            <a:endParaRPr lang="en-US" sz="2800" dirty="0"/>
          </a:p>
        </p:txBody>
      </p:sp>
      <p:sp>
        <p:nvSpPr>
          <p:cNvPr id="3" name="Text 1"/>
          <p:cNvSpPr/>
          <p:nvPr/>
        </p:nvSpPr>
        <p:spPr>
          <a:xfrm>
            <a:off x="365760" y="658368"/>
            <a:ext cx="8412480" cy="347472"/>
          </a:xfrm>
          <a:prstGeom prst="rect">
            <a:avLst/>
          </a:prstGeom>
          <a:noFill/>
          <a:ln/>
        </p:spPr>
        <p:txBody>
          <a:bodyPr wrap="square" rtlCol="0" anchor="ctr"/>
          <a:lstStyle/>
          <a:p>
            <a:pPr marL="0" indent="0">
              <a:buNone/>
            </a:pPr>
            <a:r>
              <a:rPr lang="en-US" sz="1200" i="1" dirty="0">
                <a:solidFill>
                  <a:srgbClr val="95A5A6"/>
                </a:solidFill>
                <a:latin typeface="Calibri" pitchFamily="34" charset="0"/>
                <a:ea typeface="Calibri" pitchFamily="34" charset="-122"/>
                <a:cs typeface="Calibri" pitchFamily="34" charset="-120"/>
              </a:rPr>
              <a:t>Primary crops grown in each region based on soil type, water availability, and climate</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960120"/>
          <a:ext cx="8229600" cy="3511296"/>
        </p:xfrm>
        <a:graphic>
          <a:graphicData uri="http://schemas.openxmlformats.org/drawingml/2006/table">
            <a:tbl>
              <a:tblPr/>
              <a:tblGrid>
                <a:gridCol w="22860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38912">
                <a:tc>
                  <a:txBody>
                    <a:bodyPr/>
                    <a:lstStyle/>
                    <a:p>
                      <a:pPr marL="0" indent="0" algn="l">
                        <a:buNone/>
                      </a:pPr>
                      <a:r>
                        <a:rPr lang="en-US" sz="1200" b="1" dirty="0">
                          <a:solidFill>
                            <a:srgbClr val="0D1B2A"/>
                          </a:solidFill>
                        </a:rPr>
                        <a:t>Region</a:t>
                      </a:r>
                      <a:endParaRPr lang="en-US" sz="1200" dirty="0"/>
                    </a:p>
                  </a:txBody>
                  <a:tcPr>
                    <a:lnL w="6350" cap="flat" cmpd="sng" algn="ctr">
                      <a:solidFill>
                        <a:srgbClr val="1B3A5C"/>
                      </a:solidFill>
                      <a:prstDash val="solid"/>
                      <a:round/>
                      <a:headEnd type="none" w="med" len="med"/>
                      <a:tailEnd type="none" w="med" len="med"/>
                    </a:lnL>
                    <a:lnR w="6350" cap="flat" cmpd="sng" algn="ctr">
                      <a:solidFill>
                        <a:srgbClr val="1B3A5C"/>
                      </a:solidFill>
                      <a:prstDash val="solid"/>
                      <a:round/>
                      <a:headEnd type="none" w="med" len="med"/>
                      <a:tailEnd type="none" w="med" len="med"/>
                    </a:lnR>
                    <a:lnT w="6350" cap="flat" cmpd="sng" algn="ctr">
                      <a:solidFill>
                        <a:srgbClr val="1B3A5C"/>
                      </a:solidFill>
                      <a:prstDash val="solid"/>
                      <a:round/>
                      <a:headEnd type="none" w="med" len="med"/>
                      <a:tailEnd type="none" w="med" len="med"/>
                    </a:lnT>
                    <a:lnB w="6350" cap="flat" cmpd="sng" algn="ctr">
                      <a:solidFill>
                        <a:srgbClr val="1B3A5C"/>
                      </a:solidFill>
                      <a:prstDash val="solid"/>
                      <a:round/>
                      <a:headEnd type="none" w="med" len="med"/>
                      <a:tailEnd type="none" w="med" len="med"/>
                    </a:lnB>
                    <a:solidFill>
                      <a:srgbClr val="2ECC71"/>
                    </a:solidFill>
                  </a:tcPr>
                </a:tc>
                <a:tc>
                  <a:txBody>
                    <a:bodyPr/>
                    <a:lstStyle/>
                    <a:p>
                      <a:pPr marL="0" indent="0" algn="l">
                        <a:buNone/>
                      </a:pPr>
                      <a:r>
                        <a:rPr lang="en-US" sz="1200" b="1" dirty="0">
                          <a:solidFill>
                            <a:srgbClr val="0D1B2A"/>
                          </a:solidFill>
                        </a:rPr>
                        <a:t>Primary Crops</a:t>
                      </a:r>
                      <a:endParaRPr lang="en-US" sz="1200" dirty="0"/>
                    </a:p>
                  </a:txBody>
                  <a:tcPr>
                    <a:lnL w="6350" cap="flat" cmpd="sng" algn="ctr">
                      <a:solidFill>
                        <a:srgbClr val="1B3A5C"/>
                      </a:solidFill>
                      <a:prstDash val="solid"/>
                      <a:round/>
                      <a:headEnd type="none" w="med" len="med"/>
                      <a:tailEnd type="none" w="med" len="med"/>
                    </a:lnL>
                    <a:lnR w="6350" cap="flat" cmpd="sng" algn="ctr">
                      <a:solidFill>
                        <a:srgbClr val="1B3A5C"/>
                      </a:solidFill>
                      <a:prstDash val="solid"/>
                      <a:round/>
                      <a:headEnd type="none" w="med" len="med"/>
                      <a:tailEnd type="none" w="med" len="med"/>
                    </a:lnR>
                    <a:lnT w="6350" cap="flat" cmpd="sng" algn="ctr">
                      <a:solidFill>
                        <a:srgbClr val="1B3A5C"/>
                      </a:solidFill>
                      <a:prstDash val="solid"/>
                      <a:round/>
                      <a:headEnd type="none" w="med" len="med"/>
                      <a:tailEnd type="none" w="med" len="med"/>
                    </a:lnT>
                    <a:lnB w="6350" cap="flat" cmpd="sng" algn="ctr">
                      <a:solidFill>
                        <a:srgbClr val="1B3A5C"/>
                      </a:solidFill>
                      <a:prstDash val="solid"/>
                      <a:round/>
                      <a:headEnd type="none" w="med" len="med"/>
                      <a:tailEnd type="none" w="med" len="med"/>
                    </a:lnB>
                    <a:solidFill>
                      <a:srgbClr val="2ECC71"/>
                    </a:solidFill>
                  </a:tcPr>
                </a:tc>
                <a:tc>
                  <a:txBody>
                    <a:bodyPr/>
                    <a:lstStyle/>
                    <a:p>
                      <a:pPr marL="0" indent="0" algn="ctr">
                        <a:buNone/>
                      </a:pPr>
                      <a:r>
                        <a:rPr lang="en-US" sz="1200" b="1" dirty="0">
                          <a:solidFill>
                            <a:srgbClr val="0D1B2A"/>
                          </a:solidFill>
                        </a:rPr>
                        <a:t>Avg Score</a:t>
                      </a:r>
                      <a:endParaRPr lang="en-US" sz="1200" dirty="0"/>
                    </a:p>
                  </a:txBody>
                  <a:tcPr>
                    <a:lnL w="6350" cap="flat" cmpd="sng" algn="ctr">
                      <a:solidFill>
                        <a:srgbClr val="1B3A5C"/>
                      </a:solidFill>
                      <a:prstDash val="solid"/>
                      <a:round/>
                      <a:headEnd type="none" w="med" len="med"/>
                      <a:tailEnd type="none" w="med" len="med"/>
                    </a:lnL>
                    <a:lnR w="6350" cap="flat" cmpd="sng" algn="ctr">
                      <a:solidFill>
                        <a:srgbClr val="1B3A5C"/>
                      </a:solidFill>
                      <a:prstDash val="solid"/>
                      <a:round/>
                      <a:headEnd type="none" w="med" len="med"/>
                      <a:tailEnd type="none" w="med" len="med"/>
                    </a:lnR>
                    <a:lnT w="6350" cap="flat" cmpd="sng" algn="ctr">
                      <a:solidFill>
                        <a:srgbClr val="1B3A5C"/>
                      </a:solidFill>
                      <a:prstDash val="solid"/>
                      <a:round/>
                      <a:headEnd type="none" w="med" len="med"/>
                      <a:tailEnd type="none" w="med" len="med"/>
                    </a:lnT>
                    <a:lnB w="6350" cap="flat" cmpd="sng" algn="ctr">
                      <a:solidFill>
                        <a:srgbClr val="1B3A5C"/>
                      </a:solidFill>
                      <a:prstDash val="solid"/>
                      <a:round/>
                      <a:headEnd type="none" w="med" len="med"/>
                      <a:tailEnd type="none" w="med" len="med"/>
                    </a:lnB>
                    <a:solidFill>
                      <a:srgbClr val="2ECC71"/>
                    </a:solidFill>
                  </a:tcPr>
                </a:tc>
                <a:extLst>
                  <a:ext uri="{0D108BD9-81ED-4DB2-BD59-A6C34878D82A}">
                    <a16:rowId xmlns:a16="http://schemas.microsoft.com/office/drawing/2014/main" val="10000"/>
                  </a:ext>
                </a:extLst>
              </a:tr>
              <a:tr h="438912">
                <a:tc>
                  <a:txBody>
                    <a:bodyPr/>
                    <a:lstStyle/>
                    <a:p>
                      <a:pPr marL="0" indent="0">
                        <a:buNone/>
                      </a:pPr>
                      <a:r>
                        <a:rPr lang="en-US" sz="1100" b="1" dirty="0">
                          <a:solidFill>
                            <a:srgbClr val="FFFFFF"/>
                          </a:solidFill>
                        </a:rPr>
                        <a:t>Delta</a:t>
                      </a:r>
                      <a:endParaRPr lang="en-US" sz="1100" dirty="0"/>
                    </a:p>
                  </a:txBody>
                  <a:tcPr>
                    <a:lnL w="6350" cap="flat" cmpd="sng" algn="ctr">
                      <a:solidFill>
                        <a:srgbClr val="1B3A5C"/>
                      </a:solidFill>
                      <a:prstDash val="solid"/>
                      <a:round/>
                      <a:headEnd type="none" w="med" len="med"/>
                      <a:tailEnd type="none" w="med" len="med"/>
                    </a:lnL>
                    <a:lnR w="6350" cap="flat" cmpd="sng" algn="ctr">
                      <a:solidFill>
                        <a:srgbClr val="1B3A5C"/>
                      </a:solidFill>
                      <a:prstDash val="solid"/>
                      <a:round/>
                      <a:headEnd type="none" w="med" len="med"/>
                      <a:tailEnd type="none" w="med" len="med"/>
                    </a:lnR>
                    <a:lnT w="6350" cap="flat" cmpd="sng" algn="ctr">
                      <a:solidFill>
                        <a:srgbClr val="1B3A5C"/>
                      </a:solidFill>
                      <a:prstDash val="solid"/>
                      <a:round/>
                      <a:headEnd type="none" w="med" len="med"/>
                      <a:tailEnd type="none" w="med" len="med"/>
                    </a:lnT>
                    <a:lnB w="6350" cap="flat" cmpd="sng" algn="ctr">
                      <a:solidFill>
                        <a:srgbClr val="1B3A5C"/>
                      </a:solidFill>
                      <a:prstDash val="solid"/>
                      <a:round/>
                      <a:headEnd type="none" w="med" len="med"/>
                      <a:tailEnd type="none" w="med" len="med"/>
                    </a:lnB>
                    <a:solidFill>
                      <a:srgbClr val="1B3A5C"/>
                    </a:solidFill>
                  </a:tcPr>
                </a:tc>
                <a:tc>
                  <a:txBody>
                    <a:bodyPr/>
                    <a:lstStyle/>
                    <a:p>
                      <a:pPr marL="0" indent="0">
                        <a:buNone/>
                      </a:pPr>
                      <a:r>
                        <a:rPr lang="en-US" sz="1000" dirty="0">
                          <a:solidFill>
                            <a:srgbClr val="ECF0F1"/>
                          </a:solidFill>
                        </a:rPr>
                        <a:t>Rice · Cotton · Maize · Wheat</a:t>
                      </a:r>
                      <a:endParaRPr lang="en-US" sz="1000" dirty="0"/>
                    </a:p>
                  </a:txBody>
                  <a:tcPr>
                    <a:lnL w="6350" cap="flat" cmpd="sng" algn="ctr">
                      <a:solidFill>
                        <a:srgbClr val="1B3A5C"/>
                      </a:solidFill>
                      <a:prstDash val="solid"/>
                      <a:round/>
                      <a:headEnd type="none" w="med" len="med"/>
                      <a:tailEnd type="none" w="med" len="med"/>
                    </a:lnL>
                    <a:lnR w="6350" cap="flat" cmpd="sng" algn="ctr">
                      <a:solidFill>
                        <a:srgbClr val="1B3A5C"/>
                      </a:solidFill>
                      <a:prstDash val="solid"/>
                      <a:round/>
                      <a:headEnd type="none" w="med" len="med"/>
                      <a:tailEnd type="none" w="med" len="med"/>
                    </a:lnR>
                    <a:lnT w="6350" cap="flat" cmpd="sng" algn="ctr">
                      <a:solidFill>
                        <a:srgbClr val="1B3A5C"/>
                      </a:solidFill>
                      <a:prstDash val="solid"/>
                      <a:round/>
                      <a:headEnd type="none" w="med" len="med"/>
                      <a:tailEnd type="none" w="med" len="med"/>
                    </a:lnT>
                    <a:lnB w="6350" cap="flat" cmpd="sng" algn="ctr">
                      <a:solidFill>
                        <a:srgbClr val="1B3A5C"/>
                      </a:solidFill>
                      <a:prstDash val="solid"/>
                      <a:round/>
                      <a:headEnd type="none" w="med" len="med"/>
                      <a:tailEnd type="none" w="med" len="med"/>
                    </a:lnB>
                    <a:solidFill>
                      <a:srgbClr val="1B3A5C"/>
                    </a:solidFill>
                  </a:tcPr>
                </a:tc>
                <a:tc>
                  <a:txBody>
                    <a:bodyPr/>
                    <a:lstStyle/>
                    <a:p>
                      <a:pPr marL="0" indent="0" algn="ctr">
                        <a:buNone/>
                      </a:pPr>
                      <a:r>
                        <a:rPr lang="en-US" sz="1300" b="1" dirty="0">
                          <a:solidFill>
                            <a:srgbClr val="2ECC71"/>
                          </a:solidFill>
                        </a:rPr>
                        <a:t>88</a:t>
                      </a:r>
                      <a:endParaRPr lang="en-US" sz="1300" dirty="0"/>
                    </a:p>
                  </a:txBody>
                  <a:tcPr>
                    <a:lnL w="6350" cap="flat" cmpd="sng" algn="ctr">
                      <a:solidFill>
                        <a:srgbClr val="1B3A5C"/>
                      </a:solidFill>
                      <a:prstDash val="solid"/>
                      <a:round/>
                      <a:headEnd type="none" w="med" len="med"/>
                      <a:tailEnd type="none" w="med" len="med"/>
                    </a:lnL>
                    <a:lnR w="6350" cap="flat" cmpd="sng" algn="ctr">
                      <a:solidFill>
                        <a:srgbClr val="1B3A5C"/>
                      </a:solidFill>
                      <a:prstDash val="solid"/>
                      <a:round/>
                      <a:headEnd type="none" w="med" len="med"/>
                      <a:tailEnd type="none" w="med" len="med"/>
                    </a:lnR>
                    <a:lnT w="6350" cap="flat" cmpd="sng" algn="ctr">
                      <a:solidFill>
                        <a:srgbClr val="1B3A5C"/>
                      </a:solidFill>
                      <a:prstDash val="solid"/>
                      <a:round/>
                      <a:headEnd type="none" w="med" len="med"/>
                      <a:tailEnd type="none" w="med" len="med"/>
                    </a:lnT>
                    <a:lnB w="6350" cap="flat" cmpd="sng" algn="ctr">
                      <a:solidFill>
                        <a:srgbClr val="1B3A5C"/>
                      </a:solidFill>
                      <a:prstDash val="solid"/>
                      <a:round/>
                      <a:headEnd type="none" w="med" len="med"/>
                      <a:tailEnd type="none" w="med" len="med"/>
                    </a:lnB>
                    <a:solidFill>
                      <a:srgbClr val="1B3A5C"/>
                    </a:solidFill>
                  </a:tcPr>
                </a:tc>
                <a:extLst>
                  <a:ext uri="{0D108BD9-81ED-4DB2-BD59-A6C34878D82A}">
                    <a16:rowId xmlns:a16="http://schemas.microsoft.com/office/drawing/2014/main" val="10001"/>
                  </a:ext>
                </a:extLst>
              </a:tr>
              <a:tr h="438912">
                <a:tc>
                  <a:txBody>
                    <a:bodyPr/>
                    <a:lstStyle/>
                    <a:p>
                      <a:pPr marL="0" indent="0">
                        <a:buNone/>
                      </a:pPr>
                      <a:r>
                        <a:rPr lang="en-US" sz="1100" b="1" dirty="0">
                          <a:solidFill>
                            <a:srgbClr val="FFFFFF"/>
                          </a:solidFill>
                        </a:rPr>
                        <a:t>Upper Egypt</a:t>
                      </a:r>
                      <a:endParaRPr lang="en-US" sz="1100" dirty="0"/>
                    </a:p>
                  </a:txBody>
                  <a:tcPr>
                    <a:lnL w="6350" cap="flat" cmpd="sng" algn="ctr">
                      <a:solidFill>
                        <a:srgbClr val="1B3A5C"/>
                      </a:solidFill>
                      <a:prstDash val="solid"/>
                      <a:round/>
                      <a:headEnd type="none" w="med" len="med"/>
                      <a:tailEnd type="none" w="med" len="med"/>
                    </a:lnL>
                    <a:lnR w="6350" cap="flat" cmpd="sng" algn="ctr">
                      <a:solidFill>
                        <a:srgbClr val="1B3A5C"/>
                      </a:solidFill>
                      <a:prstDash val="solid"/>
                      <a:round/>
                      <a:headEnd type="none" w="med" len="med"/>
                      <a:tailEnd type="none" w="med" len="med"/>
                    </a:lnR>
                    <a:lnT w="6350" cap="flat" cmpd="sng" algn="ctr">
                      <a:solidFill>
                        <a:srgbClr val="1B3A5C"/>
                      </a:solidFill>
                      <a:prstDash val="solid"/>
                      <a:round/>
                      <a:headEnd type="none" w="med" len="med"/>
                      <a:tailEnd type="none" w="med" len="med"/>
                    </a:lnT>
                    <a:lnB w="6350" cap="flat" cmpd="sng" algn="ctr">
                      <a:solidFill>
                        <a:srgbClr val="1B3A5C"/>
                      </a:solidFill>
                      <a:prstDash val="solid"/>
                      <a:round/>
                      <a:headEnd type="none" w="med" len="med"/>
                      <a:tailEnd type="none" w="med" len="med"/>
                    </a:lnB>
                    <a:solidFill>
                      <a:srgbClr val="162535"/>
                    </a:solidFill>
                  </a:tcPr>
                </a:tc>
                <a:tc>
                  <a:txBody>
                    <a:bodyPr/>
                    <a:lstStyle/>
                    <a:p>
                      <a:pPr marL="0" indent="0">
                        <a:buNone/>
                      </a:pPr>
                      <a:r>
                        <a:rPr lang="en-US" sz="1000" dirty="0">
                          <a:solidFill>
                            <a:srgbClr val="ECF0F1"/>
                          </a:solidFill>
                        </a:rPr>
                        <a:t>Sugarcane · Wheat · Dates · Maize</a:t>
                      </a:r>
                      <a:endParaRPr lang="en-US" sz="1000" dirty="0"/>
                    </a:p>
                  </a:txBody>
                  <a:tcPr>
                    <a:lnL w="6350" cap="flat" cmpd="sng" algn="ctr">
                      <a:solidFill>
                        <a:srgbClr val="1B3A5C"/>
                      </a:solidFill>
                      <a:prstDash val="solid"/>
                      <a:round/>
                      <a:headEnd type="none" w="med" len="med"/>
                      <a:tailEnd type="none" w="med" len="med"/>
                    </a:lnL>
                    <a:lnR w="6350" cap="flat" cmpd="sng" algn="ctr">
                      <a:solidFill>
                        <a:srgbClr val="1B3A5C"/>
                      </a:solidFill>
                      <a:prstDash val="solid"/>
                      <a:round/>
                      <a:headEnd type="none" w="med" len="med"/>
                      <a:tailEnd type="none" w="med" len="med"/>
                    </a:lnR>
                    <a:lnT w="6350" cap="flat" cmpd="sng" algn="ctr">
                      <a:solidFill>
                        <a:srgbClr val="1B3A5C"/>
                      </a:solidFill>
                      <a:prstDash val="solid"/>
                      <a:round/>
                      <a:headEnd type="none" w="med" len="med"/>
                      <a:tailEnd type="none" w="med" len="med"/>
                    </a:lnT>
                    <a:lnB w="6350" cap="flat" cmpd="sng" algn="ctr">
                      <a:solidFill>
                        <a:srgbClr val="1B3A5C"/>
                      </a:solidFill>
                      <a:prstDash val="solid"/>
                      <a:round/>
                      <a:headEnd type="none" w="med" len="med"/>
                      <a:tailEnd type="none" w="med" len="med"/>
                    </a:lnB>
                    <a:solidFill>
                      <a:srgbClr val="162535"/>
                    </a:solidFill>
                  </a:tcPr>
                </a:tc>
                <a:tc>
                  <a:txBody>
                    <a:bodyPr/>
                    <a:lstStyle/>
                    <a:p>
                      <a:pPr marL="0" indent="0" algn="ctr">
                        <a:buNone/>
                      </a:pPr>
                      <a:r>
                        <a:rPr lang="en-US" sz="1300" b="1" dirty="0">
                          <a:solidFill>
                            <a:srgbClr val="F39C12"/>
                          </a:solidFill>
                        </a:rPr>
                        <a:t>74</a:t>
                      </a:r>
                      <a:endParaRPr lang="en-US" sz="1300" dirty="0"/>
                    </a:p>
                  </a:txBody>
                  <a:tcPr>
                    <a:lnL w="6350" cap="flat" cmpd="sng" algn="ctr">
                      <a:solidFill>
                        <a:srgbClr val="1B3A5C"/>
                      </a:solidFill>
                      <a:prstDash val="solid"/>
                      <a:round/>
                      <a:headEnd type="none" w="med" len="med"/>
                      <a:tailEnd type="none" w="med" len="med"/>
                    </a:lnL>
                    <a:lnR w="6350" cap="flat" cmpd="sng" algn="ctr">
                      <a:solidFill>
                        <a:srgbClr val="1B3A5C"/>
                      </a:solidFill>
                      <a:prstDash val="solid"/>
                      <a:round/>
                      <a:headEnd type="none" w="med" len="med"/>
                      <a:tailEnd type="none" w="med" len="med"/>
                    </a:lnR>
                    <a:lnT w="6350" cap="flat" cmpd="sng" algn="ctr">
                      <a:solidFill>
                        <a:srgbClr val="1B3A5C"/>
                      </a:solidFill>
                      <a:prstDash val="solid"/>
                      <a:round/>
                      <a:headEnd type="none" w="med" len="med"/>
                      <a:tailEnd type="none" w="med" len="med"/>
                    </a:lnT>
                    <a:lnB w="6350" cap="flat" cmpd="sng" algn="ctr">
                      <a:solidFill>
                        <a:srgbClr val="1B3A5C"/>
                      </a:solidFill>
                      <a:prstDash val="solid"/>
                      <a:round/>
                      <a:headEnd type="none" w="med" len="med"/>
                      <a:tailEnd type="none" w="med" len="med"/>
                    </a:lnB>
                    <a:solidFill>
                      <a:srgbClr val="162535"/>
                    </a:solidFill>
                  </a:tcPr>
                </a:tc>
                <a:extLst>
                  <a:ext uri="{0D108BD9-81ED-4DB2-BD59-A6C34878D82A}">
                    <a16:rowId xmlns:a16="http://schemas.microsoft.com/office/drawing/2014/main" val="10002"/>
                  </a:ext>
                </a:extLst>
              </a:tr>
              <a:tr h="438912">
                <a:tc>
                  <a:txBody>
                    <a:bodyPr/>
                    <a:lstStyle/>
                    <a:p>
                      <a:pPr marL="0" indent="0">
                        <a:buNone/>
                      </a:pPr>
                      <a:r>
                        <a:rPr lang="en-US" sz="1100" b="1" dirty="0">
                          <a:solidFill>
                            <a:srgbClr val="FFFFFF"/>
                          </a:solidFill>
                        </a:rPr>
                        <a:t>Coast</a:t>
                      </a:r>
                      <a:endParaRPr lang="en-US" sz="1100" dirty="0"/>
                    </a:p>
                  </a:txBody>
                  <a:tcPr>
                    <a:lnL w="6350" cap="flat" cmpd="sng" algn="ctr">
                      <a:solidFill>
                        <a:srgbClr val="1B3A5C"/>
                      </a:solidFill>
                      <a:prstDash val="solid"/>
                      <a:round/>
                      <a:headEnd type="none" w="med" len="med"/>
                      <a:tailEnd type="none" w="med" len="med"/>
                    </a:lnL>
                    <a:lnR w="6350" cap="flat" cmpd="sng" algn="ctr">
                      <a:solidFill>
                        <a:srgbClr val="1B3A5C"/>
                      </a:solidFill>
                      <a:prstDash val="solid"/>
                      <a:round/>
                      <a:headEnd type="none" w="med" len="med"/>
                      <a:tailEnd type="none" w="med" len="med"/>
                    </a:lnR>
                    <a:lnT w="6350" cap="flat" cmpd="sng" algn="ctr">
                      <a:solidFill>
                        <a:srgbClr val="1B3A5C"/>
                      </a:solidFill>
                      <a:prstDash val="solid"/>
                      <a:round/>
                      <a:headEnd type="none" w="med" len="med"/>
                      <a:tailEnd type="none" w="med" len="med"/>
                    </a:lnT>
                    <a:lnB w="6350" cap="flat" cmpd="sng" algn="ctr">
                      <a:solidFill>
                        <a:srgbClr val="1B3A5C"/>
                      </a:solidFill>
                      <a:prstDash val="solid"/>
                      <a:round/>
                      <a:headEnd type="none" w="med" len="med"/>
                      <a:tailEnd type="none" w="med" len="med"/>
                    </a:lnB>
                    <a:solidFill>
                      <a:srgbClr val="1B3A5C"/>
                    </a:solidFill>
                  </a:tcPr>
                </a:tc>
                <a:tc>
                  <a:txBody>
                    <a:bodyPr/>
                    <a:lstStyle/>
                    <a:p>
                      <a:pPr marL="0" indent="0">
                        <a:buNone/>
                      </a:pPr>
                      <a:r>
                        <a:rPr lang="en-US" sz="1000" dirty="0">
                          <a:solidFill>
                            <a:srgbClr val="ECF0F1"/>
                          </a:solidFill>
                        </a:rPr>
                        <a:t>Cotton · Olives · Citrus · Barley</a:t>
                      </a:r>
                      <a:endParaRPr lang="en-US" sz="1000" dirty="0"/>
                    </a:p>
                  </a:txBody>
                  <a:tcPr>
                    <a:lnL w="6350" cap="flat" cmpd="sng" algn="ctr">
                      <a:solidFill>
                        <a:srgbClr val="1B3A5C"/>
                      </a:solidFill>
                      <a:prstDash val="solid"/>
                      <a:round/>
                      <a:headEnd type="none" w="med" len="med"/>
                      <a:tailEnd type="none" w="med" len="med"/>
                    </a:lnL>
                    <a:lnR w="6350" cap="flat" cmpd="sng" algn="ctr">
                      <a:solidFill>
                        <a:srgbClr val="1B3A5C"/>
                      </a:solidFill>
                      <a:prstDash val="solid"/>
                      <a:round/>
                      <a:headEnd type="none" w="med" len="med"/>
                      <a:tailEnd type="none" w="med" len="med"/>
                    </a:lnR>
                    <a:lnT w="6350" cap="flat" cmpd="sng" algn="ctr">
                      <a:solidFill>
                        <a:srgbClr val="1B3A5C"/>
                      </a:solidFill>
                      <a:prstDash val="solid"/>
                      <a:round/>
                      <a:headEnd type="none" w="med" len="med"/>
                      <a:tailEnd type="none" w="med" len="med"/>
                    </a:lnT>
                    <a:lnB w="6350" cap="flat" cmpd="sng" algn="ctr">
                      <a:solidFill>
                        <a:srgbClr val="1B3A5C"/>
                      </a:solidFill>
                      <a:prstDash val="solid"/>
                      <a:round/>
                      <a:headEnd type="none" w="med" len="med"/>
                      <a:tailEnd type="none" w="med" len="med"/>
                    </a:lnB>
                    <a:solidFill>
                      <a:srgbClr val="1B3A5C"/>
                    </a:solidFill>
                  </a:tcPr>
                </a:tc>
                <a:tc>
                  <a:txBody>
                    <a:bodyPr/>
                    <a:lstStyle/>
                    <a:p>
                      <a:pPr marL="0" indent="0" algn="ctr">
                        <a:buNone/>
                      </a:pPr>
                      <a:r>
                        <a:rPr lang="en-US" sz="1300" b="1" dirty="0">
                          <a:solidFill>
                            <a:srgbClr val="F39C12"/>
                          </a:solidFill>
                        </a:rPr>
                        <a:t>66</a:t>
                      </a:r>
                      <a:endParaRPr lang="en-US" sz="1300" dirty="0"/>
                    </a:p>
                  </a:txBody>
                  <a:tcPr>
                    <a:lnL w="6350" cap="flat" cmpd="sng" algn="ctr">
                      <a:solidFill>
                        <a:srgbClr val="1B3A5C"/>
                      </a:solidFill>
                      <a:prstDash val="solid"/>
                      <a:round/>
                      <a:headEnd type="none" w="med" len="med"/>
                      <a:tailEnd type="none" w="med" len="med"/>
                    </a:lnL>
                    <a:lnR w="6350" cap="flat" cmpd="sng" algn="ctr">
                      <a:solidFill>
                        <a:srgbClr val="1B3A5C"/>
                      </a:solidFill>
                      <a:prstDash val="solid"/>
                      <a:round/>
                      <a:headEnd type="none" w="med" len="med"/>
                      <a:tailEnd type="none" w="med" len="med"/>
                    </a:lnR>
                    <a:lnT w="6350" cap="flat" cmpd="sng" algn="ctr">
                      <a:solidFill>
                        <a:srgbClr val="1B3A5C"/>
                      </a:solidFill>
                      <a:prstDash val="solid"/>
                      <a:round/>
                      <a:headEnd type="none" w="med" len="med"/>
                      <a:tailEnd type="none" w="med" len="med"/>
                    </a:lnT>
                    <a:lnB w="6350" cap="flat" cmpd="sng" algn="ctr">
                      <a:solidFill>
                        <a:srgbClr val="1B3A5C"/>
                      </a:solidFill>
                      <a:prstDash val="solid"/>
                      <a:round/>
                      <a:headEnd type="none" w="med" len="med"/>
                      <a:tailEnd type="none" w="med" len="med"/>
                    </a:lnB>
                    <a:solidFill>
                      <a:srgbClr val="1B3A5C"/>
                    </a:solidFill>
                  </a:tcPr>
                </a:tc>
                <a:extLst>
                  <a:ext uri="{0D108BD9-81ED-4DB2-BD59-A6C34878D82A}">
                    <a16:rowId xmlns:a16="http://schemas.microsoft.com/office/drawing/2014/main" val="10003"/>
                  </a:ext>
                </a:extLst>
              </a:tr>
              <a:tr h="438912">
                <a:tc>
                  <a:txBody>
                    <a:bodyPr/>
                    <a:lstStyle/>
                    <a:p>
                      <a:pPr marL="0" indent="0">
                        <a:buNone/>
                      </a:pPr>
                      <a:r>
                        <a:rPr lang="en-US" sz="1100" b="1" dirty="0">
                          <a:solidFill>
                            <a:srgbClr val="FFFFFF"/>
                          </a:solidFill>
                        </a:rPr>
                        <a:t>Middle</a:t>
                      </a:r>
                      <a:endParaRPr lang="en-US" sz="1100" dirty="0"/>
                    </a:p>
                  </a:txBody>
                  <a:tcPr>
                    <a:lnL w="6350" cap="flat" cmpd="sng" algn="ctr">
                      <a:solidFill>
                        <a:srgbClr val="1B3A5C"/>
                      </a:solidFill>
                      <a:prstDash val="solid"/>
                      <a:round/>
                      <a:headEnd type="none" w="med" len="med"/>
                      <a:tailEnd type="none" w="med" len="med"/>
                    </a:lnL>
                    <a:lnR w="6350" cap="flat" cmpd="sng" algn="ctr">
                      <a:solidFill>
                        <a:srgbClr val="1B3A5C"/>
                      </a:solidFill>
                      <a:prstDash val="solid"/>
                      <a:round/>
                      <a:headEnd type="none" w="med" len="med"/>
                      <a:tailEnd type="none" w="med" len="med"/>
                    </a:lnR>
                    <a:lnT w="6350" cap="flat" cmpd="sng" algn="ctr">
                      <a:solidFill>
                        <a:srgbClr val="1B3A5C"/>
                      </a:solidFill>
                      <a:prstDash val="solid"/>
                      <a:round/>
                      <a:headEnd type="none" w="med" len="med"/>
                      <a:tailEnd type="none" w="med" len="med"/>
                    </a:lnT>
                    <a:lnB w="6350" cap="flat" cmpd="sng" algn="ctr">
                      <a:solidFill>
                        <a:srgbClr val="1B3A5C"/>
                      </a:solidFill>
                      <a:prstDash val="solid"/>
                      <a:round/>
                      <a:headEnd type="none" w="med" len="med"/>
                      <a:tailEnd type="none" w="med" len="med"/>
                    </a:lnB>
                    <a:solidFill>
                      <a:srgbClr val="162535"/>
                    </a:solidFill>
                  </a:tcPr>
                </a:tc>
                <a:tc>
                  <a:txBody>
                    <a:bodyPr/>
                    <a:lstStyle/>
                    <a:p>
                      <a:pPr marL="0" indent="0">
                        <a:buNone/>
                      </a:pPr>
                      <a:r>
                        <a:rPr lang="en-US" sz="1000" dirty="0">
                          <a:solidFill>
                            <a:srgbClr val="ECF0F1"/>
                          </a:solidFill>
                        </a:rPr>
                        <a:t>Vegetables · Grapes · Olives · Cotton</a:t>
                      </a:r>
                      <a:endParaRPr lang="en-US" sz="1000" dirty="0"/>
                    </a:p>
                  </a:txBody>
                  <a:tcPr>
                    <a:lnL w="6350" cap="flat" cmpd="sng" algn="ctr">
                      <a:solidFill>
                        <a:srgbClr val="1B3A5C"/>
                      </a:solidFill>
                      <a:prstDash val="solid"/>
                      <a:round/>
                      <a:headEnd type="none" w="med" len="med"/>
                      <a:tailEnd type="none" w="med" len="med"/>
                    </a:lnL>
                    <a:lnR w="6350" cap="flat" cmpd="sng" algn="ctr">
                      <a:solidFill>
                        <a:srgbClr val="1B3A5C"/>
                      </a:solidFill>
                      <a:prstDash val="solid"/>
                      <a:round/>
                      <a:headEnd type="none" w="med" len="med"/>
                      <a:tailEnd type="none" w="med" len="med"/>
                    </a:lnR>
                    <a:lnT w="6350" cap="flat" cmpd="sng" algn="ctr">
                      <a:solidFill>
                        <a:srgbClr val="1B3A5C"/>
                      </a:solidFill>
                      <a:prstDash val="solid"/>
                      <a:round/>
                      <a:headEnd type="none" w="med" len="med"/>
                      <a:tailEnd type="none" w="med" len="med"/>
                    </a:lnT>
                    <a:lnB w="6350" cap="flat" cmpd="sng" algn="ctr">
                      <a:solidFill>
                        <a:srgbClr val="1B3A5C"/>
                      </a:solidFill>
                      <a:prstDash val="solid"/>
                      <a:round/>
                      <a:headEnd type="none" w="med" len="med"/>
                      <a:tailEnd type="none" w="med" len="med"/>
                    </a:lnB>
                    <a:solidFill>
                      <a:srgbClr val="162535"/>
                    </a:solidFill>
                  </a:tcPr>
                </a:tc>
                <a:tc>
                  <a:txBody>
                    <a:bodyPr/>
                    <a:lstStyle/>
                    <a:p>
                      <a:pPr marL="0" indent="0" algn="ctr">
                        <a:buNone/>
                      </a:pPr>
                      <a:r>
                        <a:rPr lang="en-US" sz="1300" b="1" dirty="0">
                          <a:solidFill>
                            <a:srgbClr val="F39C12"/>
                          </a:solidFill>
                        </a:rPr>
                        <a:t>77</a:t>
                      </a:r>
                      <a:endParaRPr lang="en-US" sz="1300" dirty="0"/>
                    </a:p>
                  </a:txBody>
                  <a:tcPr>
                    <a:lnL w="6350" cap="flat" cmpd="sng" algn="ctr">
                      <a:solidFill>
                        <a:srgbClr val="1B3A5C"/>
                      </a:solidFill>
                      <a:prstDash val="solid"/>
                      <a:round/>
                      <a:headEnd type="none" w="med" len="med"/>
                      <a:tailEnd type="none" w="med" len="med"/>
                    </a:lnL>
                    <a:lnR w="6350" cap="flat" cmpd="sng" algn="ctr">
                      <a:solidFill>
                        <a:srgbClr val="1B3A5C"/>
                      </a:solidFill>
                      <a:prstDash val="solid"/>
                      <a:round/>
                      <a:headEnd type="none" w="med" len="med"/>
                      <a:tailEnd type="none" w="med" len="med"/>
                    </a:lnR>
                    <a:lnT w="6350" cap="flat" cmpd="sng" algn="ctr">
                      <a:solidFill>
                        <a:srgbClr val="1B3A5C"/>
                      </a:solidFill>
                      <a:prstDash val="solid"/>
                      <a:round/>
                      <a:headEnd type="none" w="med" len="med"/>
                      <a:tailEnd type="none" w="med" len="med"/>
                    </a:lnT>
                    <a:lnB w="6350" cap="flat" cmpd="sng" algn="ctr">
                      <a:solidFill>
                        <a:srgbClr val="1B3A5C"/>
                      </a:solidFill>
                      <a:prstDash val="solid"/>
                      <a:round/>
                      <a:headEnd type="none" w="med" len="med"/>
                      <a:tailEnd type="none" w="med" len="med"/>
                    </a:lnB>
                    <a:solidFill>
                      <a:srgbClr val="162535"/>
                    </a:solidFill>
                  </a:tcPr>
                </a:tc>
                <a:extLst>
                  <a:ext uri="{0D108BD9-81ED-4DB2-BD59-A6C34878D82A}">
                    <a16:rowId xmlns:a16="http://schemas.microsoft.com/office/drawing/2014/main" val="10004"/>
                  </a:ext>
                </a:extLst>
              </a:tr>
              <a:tr h="438912">
                <a:tc>
                  <a:txBody>
                    <a:bodyPr/>
                    <a:lstStyle/>
                    <a:p>
                      <a:pPr marL="0" indent="0">
                        <a:buNone/>
                      </a:pPr>
                      <a:r>
                        <a:rPr lang="en-US" sz="1100" b="1" dirty="0">
                          <a:solidFill>
                            <a:srgbClr val="FFFFFF"/>
                          </a:solidFill>
                        </a:rPr>
                        <a:t>Desert</a:t>
                      </a:r>
                      <a:endParaRPr lang="en-US" sz="1100" dirty="0"/>
                    </a:p>
                  </a:txBody>
                  <a:tcPr>
                    <a:lnL w="6350" cap="flat" cmpd="sng" algn="ctr">
                      <a:solidFill>
                        <a:srgbClr val="1B3A5C"/>
                      </a:solidFill>
                      <a:prstDash val="solid"/>
                      <a:round/>
                      <a:headEnd type="none" w="med" len="med"/>
                      <a:tailEnd type="none" w="med" len="med"/>
                    </a:lnL>
                    <a:lnR w="6350" cap="flat" cmpd="sng" algn="ctr">
                      <a:solidFill>
                        <a:srgbClr val="1B3A5C"/>
                      </a:solidFill>
                      <a:prstDash val="solid"/>
                      <a:round/>
                      <a:headEnd type="none" w="med" len="med"/>
                      <a:tailEnd type="none" w="med" len="med"/>
                    </a:lnR>
                    <a:lnT w="6350" cap="flat" cmpd="sng" algn="ctr">
                      <a:solidFill>
                        <a:srgbClr val="1B3A5C"/>
                      </a:solidFill>
                      <a:prstDash val="solid"/>
                      <a:round/>
                      <a:headEnd type="none" w="med" len="med"/>
                      <a:tailEnd type="none" w="med" len="med"/>
                    </a:lnT>
                    <a:lnB w="6350" cap="flat" cmpd="sng" algn="ctr">
                      <a:solidFill>
                        <a:srgbClr val="1B3A5C"/>
                      </a:solidFill>
                      <a:prstDash val="solid"/>
                      <a:round/>
                      <a:headEnd type="none" w="med" len="med"/>
                      <a:tailEnd type="none" w="med" len="med"/>
                    </a:lnB>
                    <a:solidFill>
                      <a:srgbClr val="1B3A5C"/>
                    </a:solidFill>
                  </a:tcPr>
                </a:tc>
                <a:tc>
                  <a:txBody>
                    <a:bodyPr/>
                    <a:lstStyle/>
                    <a:p>
                      <a:pPr marL="0" indent="0">
                        <a:buNone/>
                      </a:pPr>
                      <a:r>
                        <a:rPr lang="en-US" sz="1000" dirty="0">
                          <a:solidFill>
                            <a:srgbClr val="ECF0F1"/>
                          </a:solidFill>
                        </a:rPr>
                        <a:t>Dates · Medicinal Herbs · Drought Crops</a:t>
                      </a:r>
                      <a:endParaRPr lang="en-US" sz="1000" dirty="0"/>
                    </a:p>
                  </a:txBody>
                  <a:tcPr>
                    <a:lnL w="6350" cap="flat" cmpd="sng" algn="ctr">
                      <a:solidFill>
                        <a:srgbClr val="1B3A5C"/>
                      </a:solidFill>
                      <a:prstDash val="solid"/>
                      <a:round/>
                      <a:headEnd type="none" w="med" len="med"/>
                      <a:tailEnd type="none" w="med" len="med"/>
                    </a:lnL>
                    <a:lnR w="6350" cap="flat" cmpd="sng" algn="ctr">
                      <a:solidFill>
                        <a:srgbClr val="1B3A5C"/>
                      </a:solidFill>
                      <a:prstDash val="solid"/>
                      <a:round/>
                      <a:headEnd type="none" w="med" len="med"/>
                      <a:tailEnd type="none" w="med" len="med"/>
                    </a:lnR>
                    <a:lnT w="6350" cap="flat" cmpd="sng" algn="ctr">
                      <a:solidFill>
                        <a:srgbClr val="1B3A5C"/>
                      </a:solidFill>
                      <a:prstDash val="solid"/>
                      <a:round/>
                      <a:headEnd type="none" w="med" len="med"/>
                      <a:tailEnd type="none" w="med" len="med"/>
                    </a:lnT>
                    <a:lnB w="6350" cap="flat" cmpd="sng" algn="ctr">
                      <a:solidFill>
                        <a:srgbClr val="1B3A5C"/>
                      </a:solidFill>
                      <a:prstDash val="solid"/>
                      <a:round/>
                      <a:headEnd type="none" w="med" len="med"/>
                      <a:tailEnd type="none" w="med" len="med"/>
                    </a:lnB>
                    <a:solidFill>
                      <a:srgbClr val="1B3A5C"/>
                    </a:solidFill>
                  </a:tcPr>
                </a:tc>
                <a:tc>
                  <a:txBody>
                    <a:bodyPr/>
                    <a:lstStyle/>
                    <a:p>
                      <a:pPr marL="0" indent="0" algn="ctr">
                        <a:buNone/>
                      </a:pPr>
                      <a:r>
                        <a:rPr lang="en-US" sz="1300" b="1" dirty="0">
                          <a:solidFill>
                            <a:srgbClr val="E74C3C"/>
                          </a:solidFill>
                        </a:rPr>
                        <a:t>50</a:t>
                      </a:r>
                      <a:endParaRPr lang="en-US" sz="1300" dirty="0"/>
                    </a:p>
                  </a:txBody>
                  <a:tcPr>
                    <a:lnL w="6350" cap="flat" cmpd="sng" algn="ctr">
                      <a:solidFill>
                        <a:srgbClr val="1B3A5C"/>
                      </a:solidFill>
                      <a:prstDash val="solid"/>
                      <a:round/>
                      <a:headEnd type="none" w="med" len="med"/>
                      <a:tailEnd type="none" w="med" len="med"/>
                    </a:lnL>
                    <a:lnR w="6350" cap="flat" cmpd="sng" algn="ctr">
                      <a:solidFill>
                        <a:srgbClr val="1B3A5C"/>
                      </a:solidFill>
                      <a:prstDash val="solid"/>
                      <a:round/>
                      <a:headEnd type="none" w="med" len="med"/>
                      <a:tailEnd type="none" w="med" len="med"/>
                    </a:lnR>
                    <a:lnT w="6350" cap="flat" cmpd="sng" algn="ctr">
                      <a:solidFill>
                        <a:srgbClr val="1B3A5C"/>
                      </a:solidFill>
                      <a:prstDash val="solid"/>
                      <a:round/>
                      <a:headEnd type="none" w="med" len="med"/>
                      <a:tailEnd type="none" w="med" len="med"/>
                    </a:lnT>
                    <a:lnB w="6350" cap="flat" cmpd="sng" algn="ctr">
                      <a:solidFill>
                        <a:srgbClr val="1B3A5C"/>
                      </a:solidFill>
                      <a:prstDash val="solid"/>
                      <a:round/>
                      <a:headEnd type="none" w="med" len="med"/>
                      <a:tailEnd type="none" w="med" len="med"/>
                    </a:lnB>
                    <a:solidFill>
                      <a:srgbClr val="1B3A5C"/>
                    </a:solidFill>
                  </a:tcPr>
                </a:tc>
                <a:extLst>
                  <a:ext uri="{0D108BD9-81ED-4DB2-BD59-A6C34878D82A}">
                    <a16:rowId xmlns:a16="http://schemas.microsoft.com/office/drawing/2014/main" val="10005"/>
                  </a:ext>
                </a:extLst>
              </a:tr>
              <a:tr h="438912">
                <a:tc>
                  <a:txBody>
                    <a:bodyPr/>
                    <a:lstStyle/>
                    <a:p>
                      <a:pPr marL="0" indent="0">
                        <a:buNone/>
                      </a:pPr>
                      <a:r>
                        <a:rPr lang="en-US" sz="1100" b="1" dirty="0">
                          <a:solidFill>
                            <a:srgbClr val="FFFFFF"/>
                          </a:solidFill>
                        </a:rPr>
                        <a:t>Suez Canal</a:t>
                      </a:r>
                      <a:endParaRPr lang="en-US" sz="1100" dirty="0"/>
                    </a:p>
                  </a:txBody>
                  <a:tcPr>
                    <a:lnL w="6350" cap="flat" cmpd="sng" algn="ctr">
                      <a:solidFill>
                        <a:srgbClr val="1B3A5C"/>
                      </a:solidFill>
                      <a:prstDash val="solid"/>
                      <a:round/>
                      <a:headEnd type="none" w="med" len="med"/>
                      <a:tailEnd type="none" w="med" len="med"/>
                    </a:lnL>
                    <a:lnR w="6350" cap="flat" cmpd="sng" algn="ctr">
                      <a:solidFill>
                        <a:srgbClr val="1B3A5C"/>
                      </a:solidFill>
                      <a:prstDash val="solid"/>
                      <a:round/>
                      <a:headEnd type="none" w="med" len="med"/>
                      <a:tailEnd type="none" w="med" len="med"/>
                    </a:lnR>
                    <a:lnT w="6350" cap="flat" cmpd="sng" algn="ctr">
                      <a:solidFill>
                        <a:srgbClr val="1B3A5C"/>
                      </a:solidFill>
                      <a:prstDash val="solid"/>
                      <a:round/>
                      <a:headEnd type="none" w="med" len="med"/>
                      <a:tailEnd type="none" w="med" len="med"/>
                    </a:lnT>
                    <a:lnB w="6350" cap="flat" cmpd="sng" algn="ctr">
                      <a:solidFill>
                        <a:srgbClr val="1B3A5C"/>
                      </a:solidFill>
                      <a:prstDash val="solid"/>
                      <a:round/>
                      <a:headEnd type="none" w="med" len="med"/>
                      <a:tailEnd type="none" w="med" len="med"/>
                    </a:lnB>
                    <a:solidFill>
                      <a:srgbClr val="162535"/>
                    </a:solidFill>
                  </a:tcPr>
                </a:tc>
                <a:tc>
                  <a:txBody>
                    <a:bodyPr/>
                    <a:lstStyle/>
                    <a:p>
                      <a:pPr marL="0" indent="0">
                        <a:buNone/>
                      </a:pPr>
                      <a:r>
                        <a:rPr lang="en-US" sz="1000" dirty="0">
                          <a:solidFill>
                            <a:srgbClr val="ECF0F1"/>
                          </a:solidFill>
                        </a:rPr>
                        <a:t>Citrus · Vegetables · Grapes</a:t>
                      </a:r>
                      <a:endParaRPr lang="en-US" sz="1000" dirty="0"/>
                    </a:p>
                  </a:txBody>
                  <a:tcPr>
                    <a:lnL w="6350" cap="flat" cmpd="sng" algn="ctr">
                      <a:solidFill>
                        <a:srgbClr val="1B3A5C"/>
                      </a:solidFill>
                      <a:prstDash val="solid"/>
                      <a:round/>
                      <a:headEnd type="none" w="med" len="med"/>
                      <a:tailEnd type="none" w="med" len="med"/>
                    </a:lnL>
                    <a:lnR w="6350" cap="flat" cmpd="sng" algn="ctr">
                      <a:solidFill>
                        <a:srgbClr val="1B3A5C"/>
                      </a:solidFill>
                      <a:prstDash val="solid"/>
                      <a:round/>
                      <a:headEnd type="none" w="med" len="med"/>
                      <a:tailEnd type="none" w="med" len="med"/>
                    </a:lnR>
                    <a:lnT w="6350" cap="flat" cmpd="sng" algn="ctr">
                      <a:solidFill>
                        <a:srgbClr val="1B3A5C"/>
                      </a:solidFill>
                      <a:prstDash val="solid"/>
                      <a:round/>
                      <a:headEnd type="none" w="med" len="med"/>
                      <a:tailEnd type="none" w="med" len="med"/>
                    </a:lnT>
                    <a:lnB w="6350" cap="flat" cmpd="sng" algn="ctr">
                      <a:solidFill>
                        <a:srgbClr val="1B3A5C"/>
                      </a:solidFill>
                      <a:prstDash val="solid"/>
                      <a:round/>
                      <a:headEnd type="none" w="med" len="med"/>
                      <a:tailEnd type="none" w="med" len="med"/>
                    </a:lnB>
                    <a:solidFill>
                      <a:srgbClr val="162535"/>
                    </a:solidFill>
                  </a:tcPr>
                </a:tc>
                <a:tc>
                  <a:txBody>
                    <a:bodyPr/>
                    <a:lstStyle/>
                    <a:p>
                      <a:pPr marL="0" indent="0" algn="ctr">
                        <a:buNone/>
                      </a:pPr>
                      <a:r>
                        <a:rPr lang="en-US" sz="1300" b="1" dirty="0">
                          <a:solidFill>
                            <a:srgbClr val="E74C3C"/>
                          </a:solidFill>
                        </a:rPr>
                        <a:t>64</a:t>
                      </a:r>
                      <a:endParaRPr lang="en-US" sz="1300" dirty="0"/>
                    </a:p>
                  </a:txBody>
                  <a:tcPr>
                    <a:lnL w="6350" cap="flat" cmpd="sng" algn="ctr">
                      <a:solidFill>
                        <a:srgbClr val="1B3A5C"/>
                      </a:solidFill>
                      <a:prstDash val="solid"/>
                      <a:round/>
                      <a:headEnd type="none" w="med" len="med"/>
                      <a:tailEnd type="none" w="med" len="med"/>
                    </a:lnL>
                    <a:lnR w="6350" cap="flat" cmpd="sng" algn="ctr">
                      <a:solidFill>
                        <a:srgbClr val="1B3A5C"/>
                      </a:solidFill>
                      <a:prstDash val="solid"/>
                      <a:round/>
                      <a:headEnd type="none" w="med" len="med"/>
                      <a:tailEnd type="none" w="med" len="med"/>
                    </a:lnR>
                    <a:lnT w="6350" cap="flat" cmpd="sng" algn="ctr">
                      <a:solidFill>
                        <a:srgbClr val="1B3A5C"/>
                      </a:solidFill>
                      <a:prstDash val="solid"/>
                      <a:round/>
                      <a:headEnd type="none" w="med" len="med"/>
                      <a:tailEnd type="none" w="med" len="med"/>
                    </a:lnT>
                    <a:lnB w="6350" cap="flat" cmpd="sng" algn="ctr">
                      <a:solidFill>
                        <a:srgbClr val="1B3A5C"/>
                      </a:solidFill>
                      <a:prstDash val="solid"/>
                      <a:round/>
                      <a:headEnd type="none" w="med" len="med"/>
                      <a:tailEnd type="none" w="med" len="med"/>
                    </a:lnB>
                    <a:solidFill>
                      <a:srgbClr val="162535"/>
                    </a:solidFill>
                  </a:tcPr>
                </a:tc>
                <a:extLst>
                  <a:ext uri="{0D108BD9-81ED-4DB2-BD59-A6C34878D82A}">
                    <a16:rowId xmlns:a16="http://schemas.microsoft.com/office/drawing/2014/main" val="10006"/>
                  </a:ext>
                </a:extLst>
              </a:tr>
              <a:tr h="438912">
                <a:tc>
                  <a:txBody>
                    <a:bodyPr/>
                    <a:lstStyle/>
                    <a:p>
                      <a:pPr marL="0" indent="0">
                        <a:buNone/>
                      </a:pPr>
                      <a:r>
                        <a:rPr lang="en-US" sz="1100" b="1" dirty="0">
                          <a:solidFill>
                            <a:srgbClr val="FFFFFF"/>
                          </a:solidFill>
                        </a:rPr>
                        <a:t>Urban</a:t>
                      </a:r>
                      <a:endParaRPr lang="en-US" sz="1100" dirty="0"/>
                    </a:p>
                  </a:txBody>
                  <a:tcPr>
                    <a:lnL w="6350" cap="flat" cmpd="sng" algn="ctr">
                      <a:solidFill>
                        <a:srgbClr val="1B3A5C"/>
                      </a:solidFill>
                      <a:prstDash val="solid"/>
                      <a:round/>
                      <a:headEnd type="none" w="med" len="med"/>
                      <a:tailEnd type="none" w="med" len="med"/>
                    </a:lnL>
                    <a:lnR w="6350" cap="flat" cmpd="sng" algn="ctr">
                      <a:solidFill>
                        <a:srgbClr val="1B3A5C"/>
                      </a:solidFill>
                      <a:prstDash val="solid"/>
                      <a:round/>
                      <a:headEnd type="none" w="med" len="med"/>
                      <a:tailEnd type="none" w="med" len="med"/>
                    </a:lnR>
                    <a:lnT w="6350" cap="flat" cmpd="sng" algn="ctr">
                      <a:solidFill>
                        <a:srgbClr val="1B3A5C"/>
                      </a:solidFill>
                      <a:prstDash val="solid"/>
                      <a:round/>
                      <a:headEnd type="none" w="med" len="med"/>
                      <a:tailEnd type="none" w="med" len="med"/>
                    </a:lnT>
                    <a:lnB w="6350" cap="flat" cmpd="sng" algn="ctr">
                      <a:solidFill>
                        <a:srgbClr val="1B3A5C"/>
                      </a:solidFill>
                      <a:prstDash val="solid"/>
                      <a:round/>
                      <a:headEnd type="none" w="med" len="med"/>
                      <a:tailEnd type="none" w="med" len="med"/>
                    </a:lnB>
                    <a:solidFill>
                      <a:srgbClr val="1B3A5C"/>
                    </a:solidFill>
                  </a:tcPr>
                </a:tc>
                <a:tc>
                  <a:txBody>
                    <a:bodyPr/>
                    <a:lstStyle/>
                    <a:p>
                      <a:pPr marL="0" indent="0">
                        <a:buNone/>
                      </a:pPr>
                      <a:r>
                        <a:rPr lang="en-US" sz="1000" dirty="0">
                          <a:solidFill>
                            <a:srgbClr val="ECF0F1"/>
                          </a:solidFill>
                        </a:rPr>
                        <a:t>Vegetables · Herbs · Flowers</a:t>
                      </a:r>
                      <a:endParaRPr lang="en-US" sz="1000" dirty="0"/>
                    </a:p>
                  </a:txBody>
                  <a:tcPr>
                    <a:lnL w="6350" cap="flat" cmpd="sng" algn="ctr">
                      <a:solidFill>
                        <a:srgbClr val="1B3A5C"/>
                      </a:solidFill>
                      <a:prstDash val="solid"/>
                      <a:round/>
                      <a:headEnd type="none" w="med" len="med"/>
                      <a:tailEnd type="none" w="med" len="med"/>
                    </a:lnL>
                    <a:lnR w="6350" cap="flat" cmpd="sng" algn="ctr">
                      <a:solidFill>
                        <a:srgbClr val="1B3A5C"/>
                      </a:solidFill>
                      <a:prstDash val="solid"/>
                      <a:round/>
                      <a:headEnd type="none" w="med" len="med"/>
                      <a:tailEnd type="none" w="med" len="med"/>
                    </a:lnR>
                    <a:lnT w="6350" cap="flat" cmpd="sng" algn="ctr">
                      <a:solidFill>
                        <a:srgbClr val="1B3A5C"/>
                      </a:solidFill>
                      <a:prstDash val="solid"/>
                      <a:round/>
                      <a:headEnd type="none" w="med" len="med"/>
                      <a:tailEnd type="none" w="med" len="med"/>
                    </a:lnT>
                    <a:lnB w="6350" cap="flat" cmpd="sng" algn="ctr">
                      <a:solidFill>
                        <a:srgbClr val="1B3A5C"/>
                      </a:solidFill>
                      <a:prstDash val="solid"/>
                      <a:round/>
                      <a:headEnd type="none" w="med" len="med"/>
                      <a:tailEnd type="none" w="med" len="med"/>
                    </a:lnB>
                    <a:solidFill>
                      <a:srgbClr val="1B3A5C"/>
                    </a:solidFill>
                  </a:tcPr>
                </a:tc>
                <a:tc>
                  <a:txBody>
                    <a:bodyPr/>
                    <a:lstStyle/>
                    <a:p>
                      <a:pPr marL="0" indent="0" algn="ctr">
                        <a:buNone/>
                      </a:pPr>
                      <a:r>
                        <a:rPr lang="en-US" sz="1300" b="1" dirty="0">
                          <a:solidFill>
                            <a:srgbClr val="E74C3C"/>
                          </a:solidFill>
                        </a:rPr>
                        <a:t>45</a:t>
                      </a:r>
                      <a:endParaRPr lang="en-US" sz="1300" dirty="0"/>
                    </a:p>
                  </a:txBody>
                  <a:tcPr>
                    <a:lnL w="6350" cap="flat" cmpd="sng" algn="ctr">
                      <a:solidFill>
                        <a:srgbClr val="1B3A5C"/>
                      </a:solidFill>
                      <a:prstDash val="solid"/>
                      <a:round/>
                      <a:headEnd type="none" w="med" len="med"/>
                      <a:tailEnd type="none" w="med" len="med"/>
                    </a:lnL>
                    <a:lnR w="6350" cap="flat" cmpd="sng" algn="ctr">
                      <a:solidFill>
                        <a:srgbClr val="1B3A5C"/>
                      </a:solidFill>
                      <a:prstDash val="solid"/>
                      <a:round/>
                      <a:headEnd type="none" w="med" len="med"/>
                      <a:tailEnd type="none" w="med" len="med"/>
                    </a:lnR>
                    <a:lnT w="6350" cap="flat" cmpd="sng" algn="ctr">
                      <a:solidFill>
                        <a:srgbClr val="1B3A5C"/>
                      </a:solidFill>
                      <a:prstDash val="solid"/>
                      <a:round/>
                      <a:headEnd type="none" w="med" len="med"/>
                      <a:tailEnd type="none" w="med" len="med"/>
                    </a:lnT>
                    <a:lnB w="6350" cap="flat" cmpd="sng" algn="ctr">
                      <a:solidFill>
                        <a:srgbClr val="1B3A5C"/>
                      </a:solidFill>
                      <a:prstDash val="solid"/>
                      <a:round/>
                      <a:headEnd type="none" w="med" len="med"/>
                      <a:tailEnd type="none" w="med" len="med"/>
                    </a:lnB>
                    <a:solidFill>
                      <a:srgbClr val="1B3A5C"/>
                    </a:solidFill>
                  </a:tcPr>
                </a:tc>
                <a:extLst>
                  <a:ext uri="{0D108BD9-81ED-4DB2-BD59-A6C34878D82A}">
                    <a16:rowId xmlns:a16="http://schemas.microsoft.com/office/drawing/2014/main" val="10007"/>
                  </a:ext>
                </a:extLst>
              </a:tr>
            </a:tbl>
          </a:graphicData>
        </a:graphic>
      </p:graphicFrame>
      <p:sp>
        <p:nvSpPr>
          <p:cNvPr id="5" name="Text 2"/>
          <p:cNvSpPr/>
          <p:nvPr/>
        </p:nvSpPr>
        <p:spPr>
          <a:xfrm>
            <a:off x="365760" y="4663440"/>
            <a:ext cx="8412480" cy="274320"/>
          </a:xfrm>
          <a:prstGeom prst="rect">
            <a:avLst/>
          </a:prstGeom>
          <a:noFill/>
          <a:ln/>
        </p:spPr>
        <p:txBody>
          <a:bodyPr wrap="square" rtlCol="0" anchor="ctr"/>
          <a:lstStyle/>
          <a:p>
            <a:pPr marL="0" indent="0">
              <a:buNone/>
            </a:pPr>
            <a:r>
              <a:rPr lang="en-US" sz="1000" i="1" dirty="0">
                <a:solidFill>
                  <a:srgbClr val="95A5A6"/>
                </a:solidFill>
                <a:latin typeface="Calibri" pitchFamily="34" charset="0"/>
                <a:ea typeface="Calibri" pitchFamily="34" charset="-122"/>
                <a:cs typeface="Calibri" pitchFamily="34" charset="-120"/>
              </a:rPr>
              <a:t>Scores reflect composite index: soil fertility + water access + climate suitability (0–100)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Suitability Score Distribution</a:t>
            </a:r>
            <a:endParaRPr lang="en-US" sz="2800" dirty="0"/>
          </a:p>
        </p:txBody>
      </p:sp>
      <p:sp>
        <p:nvSpPr>
          <p:cNvPr id="3" name="Text 1"/>
          <p:cNvSpPr/>
          <p:nvPr/>
        </p:nvSpPr>
        <p:spPr>
          <a:xfrm>
            <a:off x="365760" y="658368"/>
            <a:ext cx="8412480" cy="347472"/>
          </a:xfrm>
          <a:prstGeom prst="rect">
            <a:avLst/>
          </a:prstGeom>
          <a:noFill/>
          <a:ln/>
        </p:spPr>
        <p:txBody>
          <a:bodyPr wrap="square" rtlCol="0" anchor="ctr"/>
          <a:lstStyle/>
          <a:p>
            <a:pPr marL="0" indent="0">
              <a:buNone/>
            </a:pPr>
            <a:r>
              <a:rPr lang="en-US" sz="1200" i="1" dirty="0">
                <a:solidFill>
                  <a:srgbClr val="95A5A6"/>
                </a:solidFill>
                <a:latin typeface="Calibri" pitchFamily="34" charset="0"/>
                <a:ea typeface="Calibri" pitchFamily="34" charset="-122"/>
                <a:cs typeface="Calibri" pitchFamily="34" charset="-120"/>
              </a:rPr>
              <a:t>Top 10 and Bottom 5 governorates by agricultural suitability score</a:t>
            </a:r>
            <a:endParaRPr lang="en-US" sz="1200" dirty="0"/>
          </a:p>
        </p:txBody>
      </p:sp>
      <p:graphicFrame>
        <p:nvGraphicFramePr>
          <p:cNvPr id="4" name="Chart 0"/>
          <p:cNvGraphicFramePr/>
          <p:nvPr/>
        </p:nvGraphicFramePr>
        <p:xfrm>
          <a:off x="274320" y="1005840"/>
          <a:ext cx="8595360" cy="38404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Key Findings &amp; Insights</a:t>
            </a:r>
            <a:endParaRPr lang="en-US" sz="3200" dirty="0"/>
          </a:p>
        </p:txBody>
      </p:sp>
      <p:sp>
        <p:nvSpPr>
          <p:cNvPr id="3" name="Shape 1"/>
          <p:cNvSpPr/>
          <p:nvPr/>
        </p:nvSpPr>
        <p:spPr>
          <a:xfrm>
            <a:off x="365760" y="713232"/>
            <a:ext cx="3200400" cy="36576"/>
          </a:xfrm>
          <a:prstGeom prst="rect">
            <a:avLst/>
          </a:prstGeom>
          <a:solidFill>
            <a:srgbClr val="2ECC71"/>
          </a:solidFill>
          <a:ln w="12700">
            <a:solidFill>
              <a:srgbClr val="2ECC71"/>
            </a:solidFill>
            <a:prstDash val="solid"/>
          </a:ln>
        </p:spPr>
      </p:sp>
      <p:sp>
        <p:nvSpPr>
          <p:cNvPr id="4" name="Shape 2"/>
          <p:cNvSpPr/>
          <p:nvPr/>
        </p:nvSpPr>
        <p:spPr>
          <a:xfrm>
            <a:off x="274320" y="960120"/>
            <a:ext cx="4114800" cy="1737360"/>
          </a:xfrm>
          <a:prstGeom prst="rect">
            <a:avLst/>
          </a:prstGeom>
          <a:solidFill>
            <a:srgbClr val="1B3A5C"/>
          </a:solidFill>
          <a:ln/>
        </p:spPr>
      </p:sp>
      <p:sp>
        <p:nvSpPr>
          <p:cNvPr id="5" name="Shape 3"/>
          <p:cNvSpPr/>
          <p:nvPr/>
        </p:nvSpPr>
        <p:spPr>
          <a:xfrm>
            <a:off x="274320" y="960120"/>
            <a:ext cx="91440" cy="1737360"/>
          </a:xfrm>
          <a:prstGeom prst="rect">
            <a:avLst/>
          </a:prstGeom>
          <a:solidFill>
            <a:srgbClr val="2ECC71"/>
          </a:solidFill>
          <a:ln w="12700">
            <a:solidFill>
              <a:srgbClr val="2ECC71"/>
            </a:solidFill>
            <a:prstDash val="solid"/>
          </a:ln>
        </p:spPr>
      </p:sp>
      <p:pic>
        <p:nvPicPr>
          <p:cNvPr id="6" name="Image 0" descr="preencoded.png"/>
          <p:cNvPicPr>
            <a:picLocks noChangeAspect="1"/>
          </p:cNvPicPr>
          <p:nvPr/>
        </p:nvPicPr>
        <p:blipFill>
          <a:blip r:embed="rId3"/>
          <a:stretch>
            <a:fillRect/>
          </a:stretch>
        </p:blipFill>
        <p:spPr>
          <a:xfrm>
            <a:off x="438912" y="1097280"/>
            <a:ext cx="411480" cy="411480"/>
          </a:xfrm>
          <a:prstGeom prst="rect">
            <a:avLst/>
          </a:prstGeom>
        </p:spPr>
      </p:pic>
      <p:sp>
        <p:nvSpPr>
          <p:cNvPr id="7" name="Text 4"/>
          <p:cNvSpPr/>
          <p:nvPr/>
        </p:nvSpPr>
        <p:spPr>
          <a:xfrm>
            <a:off x="932688" y="1051560"/>
            <a:ext cx="33375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Nile Delta Dominates</a:t>
            </a:r>
            <a:endParaRPr lang="en-US" sz="1400" dirty="0"/>
          </a:p>
        </p:txBody>
      </p:sp>
      <p:sp>
        <p:nvSpPr>
          <p:cNvPr id="8" name="Text 5"/>
          <p:cNvSpPr/>
          <p:nvPr/>
        </p:nvSpPr>
        <p:spPr>
          <a:xfrm>
            <a:off x="438912" y="1554480"/>
            <a:ext cx="3840480" cy="1005840"/>
          </a:xfrm>
          <a:prstGeom prst="rect">
            <a:avLst/>
          </a:prstGeom>
          <a:noFill/>
          <a:ln/>
        </p:spPr>
        <p:txBody>
          <a:bodyPr wrap="square" rtlCol="0" anchor="ctr"/>
          <a:lstStyle/>
          <a:p>
            <a:pPr marL="0" indent="0">
              <a:buNone/>
            </a:pPr>
            <a:r>
              <a:rPr lang="en-US" sz="1100" dirty="0">
                <a:solidFill>
                  <a:srgbClr val="ECF0F1"/>
                </a:solidFill>
                <a:latin typeface="Calibri" pitchFamily="34" charset="0"/>
                <a:ea typeface="Calibri" pitchFamily="34" charset="-122"/>
                <a:cs typeface="Calibri" pitchFamily="34" charset="-120"/>
              </a:rPr>
              <a:t>Delta governorates score 82–90, making them the most productive agricultural zone. Rich alluvial soil + dense irrigation networks explain this advantage.</a:t>
            </a:r>
            <a:endParaRPr lang="en-US" sz="1100" dirty="0"/>
          </a:p>
        </p:txBody>
      </p:sp>
      <p:sp>
        <p:nvSpPr>
          <p:cNvPr id="9" name="Shape 6"/>
          <p:cNvSpPr/>
          <p:nvPr/>
        </p:nvSpPr>
        <p:spPr>
          <a:xfrm>
            <a:off x="4663440" y="960120"/>
            <a:ext cx="4114800" cy="1737360"/>
          </a:xfrm>
          <a:prstGeom prst="rect">
            <a:avLst/>
          </a:prstGeom>
          <a:solidFill>
            <a:srgbClr val="1B3A5C"/>
          </a:solidFill>
          <a:ln/>
        </p:spPr>
      </p:sp>
      <p:sp>
        <p:nvSpPr>
          <p:cNvPr id="10" name="Shape 7"/>
          <p:cNvSpPr/>
          <p:nvPr/>
        </p:nvSpPr>
        <p:spPr>
          <a:xfrm>
            <a:off x="4663440" y="960120"/>
            <a:ext cx="91440" cy="1737360"/>
          </a:xfrm>
          <a:prstGeom prst="rect">
            <a:avLst/>
          </a:prstGeom>
          <a:solidFill>
            <a:srgbClr val="3498DB"/>
          </a:solidFill>
          <a:ln w="12700">
            <a:solidFill>
              <a:srgbClr val="3498DB"/>
            </a:solidFill>
            <a:prstDash val="solid"/>
          </a:ln>
        </p:spPr>
      </p:sp>
      <p:pic>
        <p:nvPicPr>
          <p:cNvPr id="11" name="Image 1" descr="preencoded.png"/>
          <p:cNvPicPr>
            <a:picLocks noChangeAspect="1"/>
          </p:cNvPicPr>
          <p:nvPr/>
        </p:nvPicPr>
        <p:blipFill>
          <a:blip r:embed="rId4"/>
          <a:stretch>
            <a:fillRect/>
          </a:stretch>
        </p:blipFill>
        <p:spPr>
          <a:xfrm>
            <a:off x="4828032" y="1097280"/>
            <a:ext cx="411480" cy="411480"/>
          </a:xfrm>
          <a:prstGeom prst="rect">
            <a:avLst/>
          </a:prstGeom>
        </p:spPr>
      </p:pic>
      <p:sp>
        <p:nvSpPr>
          <p:cNvPr id="12" name="Text 8"/>
          <p:cNvSpPr/>
          <p:nvPr/>
        </p:nvSpPr>
        <p:spPr>
          <a:xfrm>
            <a:off x="5321808" y="1051560"/>
            <a:ext cx="33375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Water Access = Key Driver</a:t>
            </a:r>
            <a:endParaRPr lang="en-US" sz="1400" dirty="0"/>
          </a:p>
        </p:txBody>
      </p:sp>
      <p:sp>
        <p:nvSpPr>
          <p:cNvPr id="13" name="Text 9"/>
          <p:cNvSpPr/>
          <p:nvPr/>
        </p:nvSpPr>
        <p:spPr>
          <a:xfrm>
            <a:off x="4828032" y="1554480"/>
            <a:ext cx="3840480" cy="1005840"/>
          </a:xfrm>
          <a:prstGeom prst="rect">
            <a:avLst/>
          </a:prstGeom>
          <a:noFill/>
          <a:ln/>
        </p:spPr>
        <p:txBody>
          <a:bodyPr wrap="square" rtlCol="0" anchor="ctr"/>
          <a:lstStyle/>
          <a:p>
            <a:pPr marL="0" indent="0">
              <a:buNone/>
            </a:pPr>
            <a:r>
              <a:rPr lang="en-US" sz="1100" dirty="0">
                <a:solidFill>
                  <a:srgbClr val="ECF0F1"/>
                </a:solidFill>
                <a:latin typeface="Calibri" pitchFamily="34" charset="0"/>
                <a:ea typeface="Calibri" pitchFamily="34" charset="-122"/>
                <a:cs typeface="Calibri" pitchFamily="34" charset="-120"/>
              </a:rPr>
              <a:t>Water availability is the single strongest predictor of suitability. Governorates near the Nile or Delta canals consistently outperform desert regions by 30–50 points.</a:t>
            </a:r>
            <a:endParaRPr lang="en-US" sz="1100" dirty="0"/>
          </a:p>
        </p:txBody>
      </p:sp>
      <p:sp>
        <p:nvSpPr>
          <p:cNvPr id="14" name="Shape 10"/>
          <p:cNvSpPr/>
          <p:nvPr/>
        </p:nvSpPr>
        <p:spPr>
          <a:xfrm>
            <a:off x="274320" y="2880360"/>
            <a:ext cx="4114800" cy="1737360"/>
          </a:xfrm>
          <a:prstGeom prst="rect">
            <a:avLst/>
          </a:prstGeom>
          <a:solidFill>
            <a:srgbClr val="1B3A5C"/>
          </a:solidFill>
          <a:ln/>
        </p:spPr>
      </p:sp>
      <p:sp>
        <p:nvSpPr>
          <p:cNvPr id="15" name="Shape 11"/>
          <p:cNvSpPr/>
          <p:nvPr/>
        </p:nvSpPr>
        <p:spPr>
          <a:xfrm>
            <a:off x="274320" y="2880360"/>
            <a:ext cx="91440" cy="1737360"/>
          </a:xfrm>
          <a:prstGeom prst="rect">
            <a:avLst/>
          </a:prstGeom>
          <a:solidFill>
            <a:srgbClr val="F39C12"/>
          </a:solidFill>
          <a:ln w="12700">
            <a:solidFill>
              <a:srgbClr val="F39C12"/>
            </a:solidFill>
            <a:prstDash val="solid"/>
          </a:ln>
        </p:spPr>
      </p:sp>
      <p:pic>
        <p:nvPicPr>
          <p:cNvPr id="16" name="Image 2" descr="preencoded.png"/>
          <p:cNvPicPr>
            <a:picLocks noChangeAspect="1"/>
          </p:cNvPicPr>
          <p:nvPr/>
        </p:nvPicPr>
        <p:blipFill>
          <a:blip r:embed="rId5"/>
          <a:stretch>
            <a:fillRect/>
          </a:stretch>
        </p:blipFill>
        <p:spPr>
          <a:xfrm>
            <a:off x="438912" y="3017520"/>
            <a:ext cx="411480" cy="411480"/>
          </a:xfrm>
          <a:prstGeom prst="rect">
            <a:avLst/>
          </a:prstGeom>
        </p:spPr>
      </p:pic>
      <p:sp>
        <p:nvSpPr>
          <p:cNvPr id="17" name="Text 12"/>
          <p:cNvSpPr/>
          <p:nvPr/>
        </p:nvSpPr>
        <p:spPr>
          <a:xfrm>
            <a:off x="932688" y="2971800"/>
            <a:ext cx="33375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Crop Diversity by Region</a:t>
            </a:r>
            <a:endParaRPr lang="en-US" sz="1400" dirty="0"/>
          </a:p>
        </p:txBody>
      </p:sp>
      <p:sp>
        <p:nvSpPr>
          <p:cNvPr id="18" name="Text 13"/>
          <p:cNvSpPr/>
          <p:nvPr/>
        </p:nvSpPr>
        <p:spPr>
          <a:xfrm>
            <a:off x="438912" y="3474720"/>
            <a:ext cx="3840480" cy="1005840"/>
          </a:xfrm>
          <a:prstGeom prst="rect">
            <a:avLst/>
          </a:prstGeom>
          <a:noFill/>
          <a:ln/>
        </p:spPr>
        <p:txBody>
          <a:bodyPr wrap="square" rtlCol="0" anchor="ctr"/>
          <a:lstStyle/>
          <a:p>
            <a:pPr marL="0" indent="0">
              <a:buNone/>
            </a:pPr>
            <a:r>
              <a:rPr lang="en-US" sz="1100" dirty="0">
                <a:solidFill>
                  <a:srgbClr val="ECF0F1"/>
                </a:solidFill>
                <a:latin typeface="Calibri" pitchFamily="34" charset="0"/>
                <a:ea typeface="Calibri" pitchFamily="34" charset="-122"/>
                <a:cs typeface="Calibri" pitchFamily="34" charset="-120"/>
              </a:rPr>
              <a:t>Upper Egypt specializes in sugarcane &amp; dates; the Delta in rice &amp; cotton; the coast in olives &amp; citrus. Each region has a distinct crop identity driven by climate.</a:t>
            </a:r>
            <a:endParaRPr lang="en-US" sz="1100" dirty="0"/>
          </a:p>
        </p:txBody>
      </p:sp>
      <p:sp>
        <p:nvSpPr>
          <p:cNvPr id="19" name="Shape 14"/>
          <p:cNvSpPr/>
          <p:nvPr/>
        </p:nvSpPr>
        <p:spPr>
          <a:xfrm>
            <a:off x="4663440" y="2880360"/>
            <a:ext cx="4114800" cy="1737360"/>
          </a:xfrm>
          <a:prstGeom prst="rect">
            <a:avLst/>
          </a:prstGeom>
          <a:solidFill>
            <a:srgbClr val="1B3A5C"/>
          </a:solidFill>
          <a:ln/>
        </p:spPr>
      </p:sp>
      <p:sp>
        <p:nvSpPr>
          <p:cNvPr id="20" name="Shape 15"/>
          <p:cNvSpPr/>
          <p:nvPr/>
        </p:nvSpPr>
        <p:spPr>
          <a:xfrm>
            <a:off x="4663440" y="2880360"/>
            <a:ext cx="91440" cy="1737360"/>
          </a:xfrm>
          <a:prstGeom prst="rect">
            <a:avLst/>
          </a:prstGeom>
          <a:solidFill>
            <a:srgbClr val="E74C3C"/>
          </a:solidFill>
          <a:ln w="12700">
            <a:solidFill>
              <a:srgbClr val="E74C3C"/>
            </a:solidFill>
            <a:prstDash val="solid"/>
          </a:ln>
        </p:spPr>
      </p:sp>
      <p:pic>
        <p:nvPicPr>
          <p:cNvPr id="21" name="Image 3" descr="preencoded.png"/>
          <p:cNvPicPr>
            <a:picLocks noChangeAspect="1"/>
          </p:cNvPicPr>
          <p:nvPr/>
        </p:nvPicPr>
        <p:blipFill>
          <a:blip r:embed="rId6"/>
          <a:stretch>
            <a:fillRect/>
          </a:stretch>
        </p:blipFill>
        <p:spPr>
          <a:xfrm>
            <a:off x="4828032" y="3017520"/>
            <a:ext cx="411480" cy="411480"/>
          </a:xfrm>
          <a:prstGeom prst="rect">
            <a:avLst/>
          </a:prstGeom>
        </p:spPr>
      </p:pic>
      <p:sp>
        <p:nvSpPr>
          <p:cNvPr id="22" name="Text 16"/>
          <p:cNvSpPr/>
          <p:nvPr/>
        </p:nvSpPr>
        <p:spPr>
          <a:xfrm>
            <a:off x="5321808" y="2971800"/>
            <a:ext cx="33375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Desert Zones Need Attention</a:t>
            </a:r>
            <a:endParaRPr lang="en-US" sz="1400" dirty="0"/>
          </a:p>
        </p:txBody>
      </p:sp>
      <p:sp>
        <p:nvSpPr>
          <p:cNvPr id="23" name="Text 17"/>
          <p:cNvSpPr/>
          <p:nvPr/>
        </p:nvSpPr>
        <p:spPr>
          <a:xfrm>
            <a:off x="4828032" y="3474720"/>
            <a:ext cx="3840480" cy="1005840"/>
          </a:xfrm>
          <a:prstGeom prst="rect">
            <a:avLst/>
          </a:prstGeom>
          <a:noFill/>
          <a:ln/>
        </p:spPr>
        <p:txBody>
          <a:bodyPr wrap="square" rtlCol="0" anchor="ctr"/>
          <a:lstStyle/>
          <a:p>
            <a:pPr marL="0" indent="0">
              <a:buNone/>
            </a:pPr>
            <a:r>
              <a:rPr lang="en-US" sz="1100" dirty="0">
                <a:solidFill>
                  <a:srgbClr val="ECF0F1"/>
                </a:solidFill>
                <a:latin typeface="Calibri" pitchFamily="34" charset="0"/>
                <a:ea typeface="Calibri" pitchFamily="34" charset="-122"/>
                <a:cs typeface="Calibri" pitchFamily="34" charset="-120"/>
              </a:rPr>
              <a:t>Red Sea, South Sinai &amp; parts of New Valley score 38–60. These regions need investment in drip irrigation, desert agriculture &amp; oasis farming technologies.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Tools &amp; Methodology</a:t>
            </a:r>
            <a:endParaRPr lang="en-US" sz="3200" dirty="0"/>
          </a:p>
        </p:txBody>
      </p:sp>
      <p:sp>
        <p:nvSpPr>
          <p:cNvPr id="3" name="Shape 1"/>
          <p:cNvSpPr/>
          <p:nvPr/>
        </p:nvSpPr>
        <p:spPr>
          <a:xfrm>
            <a:off x="274320" y="868680"/>
            <a:ext cx="8595360" cy="914400"/>
          </a:xfrm>
          <a:prstGeom prst="rect">
            <a:avLst/>
          </a:prstGeom>
          <a:solidFill>
            <a:srgbClr val="1B3A5C"/>
          </a:solidFill>
          <a:ln/>
        </p:spPr>
      </p:sp>
      <p:sp>
        <p:nvSpPr>
          <p:cNvPr id="4" name="Shape 2"/>
          <p:cNvSpPr/>
          <p:nvPr/>
        </p:nvSpPr>
        <p:spPr>
          <a:xfrm>
            <a:off x="347472" y="1033272"/>
            <a:ext cx="548640" cy="548640"/>
          </a:xfrm>
          <a:prstGeom prst="ellipse">
            <a:avLst/>
          </a:prstGeom>
          <a:solidFill>
            <a:srgbClr val="2ECC71"/>
          </a:solidFill>
          <a:ln w="12700">
            <a:solidFill>
              <a:srgbClr val="2ECC71"/>
            </a:solidFill>
            <a:prstDash val="solid"/>
          </a:ln>
        </p:spPr>
      </p:sp>
      <p:sp>
        <p:nvSpPr>
          <p:cNvPr id="5" name="Text 3"/>
          <p:cNvSpPr/>
          <p:nvPr/>
        </p:nvSpPr>
        <p:spPr>
          <a:xfrm>
            <a:off x="347472" y="1033272"/>
            <a:ext cx="548640" cy="548640"/>
          </a:xfrm>
          <a:prstGeom prst="rect">
            <a:avLst/>
          </a:prstGeom>
          <a:noFill/>
          <a:ln/>
        </p:spPr>
        <p:txBody>
          <a:bodyPr wrap="square" lIns="0" tIns="0" rIns="0" bIns="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01</a:t>
            </a:r>
            <a:endParaRPr lang="en-US" sz="1300" dirty="0"/>
          </a:p>
        </p:txBody>
      </p:sp>
      <p:sp>
        <p:nvSpPr>
          <p:cNvPr id="6" name="Text 4"/>
          <p:cNvSpPr/>
          <p:nvPr/>
        </p:nvSpPr>
        <p:spPr>
          <a:xfrm>
            <a:off x="1005840" y="941832"/>
            <a:ext cx="201168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Data Collection</a:t>
            </a:r>
            <a:endParaRPr lang="en-US" sz="1400" dirty="0"/>
          </a:p>
        </p:txBody>
      </p:sp>
      <p:sp>
        <p:nvSpPr>
          <p:cNvPr id="7" name="Text 5"/>
          <p:cNvSpPr/>
          <p:nvPr/>
        </p:nvSpPr>
        <p:spPr>
          <a:xfrm>
            <a:off x="1005840" y="1280160"/>
            <a:ext cx="7680960" cy="411480"/>
          </a:xfrm>
          <a:prstGeom prst="rect">
            <a:avLst/>
          </a:prstGeom>
          <a:noFill/>
          <a:ln/>
        </p:spPr>
        <p:txBody>
          <a:bodyPr wrap="square" lIns="0" tIns="0" rIns="0" bIns="0" rtlCol="0" anchor="ctr"/>
          <a:lstStyle/>
          <a:p>
            <a:pPr marL="0" indent="0">
              <a:buNone/>
            </a:pPr>
            <a:r>
              <a:rPr lang="en-US" sz="1100" dirty="0">
                <a:solidFill>
                  <a:srgbClr val="ECF0F1"/>
                </a:solidFill>
                <a:latin typeface="Calibri" pitchFamily="34" charset="0"/>
                <a:ea typeface="Calibri" pitchFamily="34" charset="-122"/>
                <a:cs typeface="Calibri" pitchFamily="34" charset="-120"/>
              </a:rPr>
              <a:t>GADM shapefiles for Egypt administrative boundaries (level 1 — governorates). CAPMAS crop &amp; agriculture data used to build suitability scores.</a:t>
            </a:r>
            <a:endParaRPr lang="en-US" sz="1100" dirty="0"/>
          </a:p>
        </p:txBody>
      </p:sp>
      <p:sp>
        <p:nvSpPr>
          <p:cNvPr id="8" name="Shape 6"/>
          <p:cNvSpPr/>
          <p:nvPr/>
        </p:nvSpPr>
        <p:spPr>
          <a:xfrm>
            <a:off x="274320" y="1892808"/>
            <a:ext cx="8595360" cy="914400"/>
          </a:xfrm>
          <a:prstGeom prst="rect">
            <a:avLst/>
          </a:prstGeom>
          <a:solidFill>
            <a:srgbClr val="1B3A5C"/>
          </a:solidFill>
          <a:ln/>
        </p:spPr>
      </p:sp>
      <p:sp>
        <p:nvSpPr>
          <p:cNvPr id="9" name="Shape 7"/>
          <p:cNvSpPr/>
          <p:nvPr/>
        </p:nvSpPr>
        <p:spPr>
          <a:xfrm>
            <a:off x="347472" y="2057400"/>
            <a:ext cx="548640" cy="548640"/>
          </a:xfrm>
          <a:prstGeom prst="ellipse">
            <a:avLst/>
          </a:prstGeom>
          <a:solidFill>
            <a:srgbClr val="3498DB"/>
          </a:solidFill>
          <a:ln w="12700">
            <a:solidFill>
              <a:srgbClr val="3498DB"/>
            </a:solidFill>
            <a:prstDash val="solid"/>
          </a:ln>
        </p:spPr>
      </p:sp>
      <p:sp>
        <p:nvSpPr>
          <p:cNvPr id="10" name="Text 8"/>
          <p:cNvSpPr/>
          <p:nvPr/>
        </p:nvSpPr>
        <p:spPr>
          <a:xfrm>
            <a:off x="347472" y="2057400"/>
            <a:ext cx="548640" cy="548640"/>
          </a:xfrm>
          <a:prstGeom prst="rect">
            <a:avLst/>
          </a:prstGeom>
          <a:noFill/>
          <a:ln/>
        </p:spPr>
        <p:txBody>
          <a:bodyPr wrap="square" lIns="0" tIns="0" rIns="0" bIns="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02</a:t>
            </a:r>
            <a:endParaRPr lang="en-US" sz="1300" dirty="0"/>
          </a:p>
        </p:txBody>
      </p:sp>
      <p:sp>
        <p:nvSpPr>
          <p:cNvPr id="11" name="Text 9"/>
          <p:cNvSpPr/>
          <p:nvPr/>
        </p:nvSpPr>
        <p:spPr>
          <a:xfrm>
            <a:off x="1005840" y="1965960"/>
            <a:ext cx="201168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Data Processing</a:t>
            </a:r>
            <a:endParaRPr lang="en-US" sz="1400" dirty="0"/>
          </a:p>
        </p:txBody>
      </p:sp>
      <p:sp>
        <p:nvSpPr>
          <p:cNvPr id="12" name="Text 10"/>
          <p:cNvSpPr/>
          <p:nvPr/>
        </p:nvSpPr>
        <p:spPr>
          <a:xfrm>
            <a:off x="1005840" y="2304288"/>
            <a:ext cx="7680960" cy="411480"/>
          </a:xfrm>
          <a:prstGeom prst="rect">
            <a:avLst/>
          </a:prstGeom>
          <a:noFill/>
          <a:ln/>
        </p:spPr>
        <p:txBody>
          <a:bodyPr wrap="square" lIns="0" tIns="0" rIns="0" bIns="0" rtlCol="0" anchor="ctr"/>
          <a:lstStyle/>
          <a:p>
            <a:pPr marL="0" indent="0">
              <a:buNone/>
            </a:pPr>
            <a:r>
              <a:rPr lang="en-US" sz="1100" dirty="0">
                <a:solidFill>
                  <a:srgbClr val="ECF0F1"/>
                </a:solidFill>
                <a:latin typeface="Calibri" pitchFamily="34" charset="0"/>
                <a:ea typeface="Calibri" pitchFamily="34" charset="-122"/>
                <a:cs typeface="Calibri" pitchFamily="34" charset="-120"/>
              </a:rPr>
              <a:t>Loaded shapefiles using the sf package in R. Merged agricultural data by governorate name. Validated CRS and geometry integrity.</a:t>
            </a:r>
            <a:endParaRPr lang="en-US" sz="1100" dirty="0"/>
          </a:p>
        </p:txBody>
      </p:sp>
      <p:sp>
        <p:nvSpPr>
          <p:cNvPr id="13" name="Shape 11"/>
          <p:cNvSpPr/>
          <p:nvPr/>
        </p:nvSpPr>
        <p:spPr>
          <a:xfrm>
            <a:off x="274320" y="2916936"/>
            <a:ext cx="8595360" cy="914400"/>
          </a:xfrm>
          <a:prstGeom prst="rect">
            <a:avLst/>
          </a:prstGeom>
          <a:solidFill>
            <a:srgbClr val="1B3A5C"/>
          </a:solidFill>
          <a:ln/>
        </p:spPr>
      </p:sp>
      <p:sp>
        <p:nvSpPr>
          <p:cNvPr id="14" name="Shape 12"/>
          <p:cNvSpPr/>
          <p:nvPr/>
        </p:nvSpPr>
        <p:spPr>
          <a:xfrm>
            <a:off x="347472" y="3081528"/>
            <a:ext cx="548640" cy="548640"/>
          </a:xfrm>
          <a:prstGeom prst="ellipse">
            <a:avLst/>
          </a:prstGeom>
          <a:solidFill>
            <a:srgbClr val="F39C12"/>
          </a:solidFill>
          <a:ln w="12700">
            <a:solidFill>
              <a:srgbClr val="F39C12"/>
            </a:solidFill>
            <a:prstDash val="solid"/>
          </a:ln>
        </p:spPr>
      </p:sp>
      <p:sp>
        <p:nvSpPr>
          <p:cNvPr id="15" name="Text 13"/>
          <p:cNvSpPr/>
          <p:nvPr/>
        </p:nvSpPr>
        <p:spPr>
          <a:xfrm>
            <a:off x="347472" y="3081528"/>
            <a:ext cx="548640" cy="548640"/>
          </a:xfrm>
          <a:prstGeom prst="rect">
            <a:avLst/>
          </a:prstGeom>
          <a:noFill/>
          <a:ln/>
        </p:spPr>
        <p:txBody>
          <a:bodyPr wrap="square" lIns="0" tIns="0" rIns="0" bIns="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03</a:t>
            </a:r>
            <a:endParaRPr lang="en-US" sz="1300" dirty="0"/>
          </a:p>
        </p:txBody>
      </p:sp>
      <p:sp>
        <p:nvSpPr>
          <p:cNvPr id="16" name="Text 14"/>
          <p:cNvSpPr/>
          <p:nvPr/>
        </p:nvSpPr>
        <p:spPr>
          <a:xfrm>
            <a:off x="1005840" y="2990088"/>
            <a:ext cx="201168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Static Mapping</a:t>
            </a:r>
            <a:endParaRPr lang="en-US" sz="1400" dirty="0"/>
          </a:p>
        </p:txBody>
      </p:sp>
      <p:sp>
        <p:nvSpPr>
          <p:cNvPr id="17" name="Text 15"/>
          <p:cNvSpPr/>
          <p:nvPr/>
        </p:nvSpPr>
        <p:spPr>
          <a:xfrm>
            <a:off x="1005840" y="3328416"/>
            <a:ext cx="7680960" cy="411480"/>
          </a:xfrm>
          <a:prstGeom prst="rect">
            <a:avLst/>
          </a:prstGeom>
          <a:noFill/>
          <a:ln/>
        </p:spPr>
        <p:txBody>
          <a:bodyPr wrap="square" lIns="0" tIns="0" rIns="0" bIns="0" rtlCol="0" anchor="ctr"/>
          <a:lstStyle/>
          <a:p>
            <a:pPr marL="0" indent="0">
              <a:buNone/>
            </a:pPr>
            <a:r>
              <a:rPr lang="en-US" sz="1100" dirty="0">
                <a:solidFill>
                  <a:srgbClr val="ECF0F1"/>
                </a:solidFill>
                <a:latin typeface="Calibri" pitchFamily="34" charset="0"/>
                <a:ea typeface="Calibri" pitchFamily="34" charset="-122"/>
                <a:cs typeface="Calibri" pitchFamily="34" charset="-120"/>
              </a:rPr>
              <a:t>Built choropleth map with ggplot2 + geom_sf(). Applied a green-red gradient palette scaled to suitability scores. Added labels and theme customization.</a:t>
            </a:r>
            <a:endParaRPr lang="en-US" sz="1100" dirty="0"/>
          </a:p>
        </p:txBody>
      </p:sp>
      <p:sp>
        <p:nvSpPr>
          <p:cNvPr id="18" name="Shape 16"/>
          <p:cNvSpPr/>
          <p:nvPr/>
        </p:nvSpPr>
        <p:spPr>
          <a:xfrm>
            <a:off x="274320" y="3941064"/>
            <a:ext cx="8595360" cy="914400"/>
          </a:xfrm>
          <a:prstGeom prst="rect">
            <a:avLst/>
          </a:prstGeom>
          <a:solidFill>
            <a:srgbClr val="1B3A5C"/>
          </a:solidFill>
          <a:ln/>
        </p:spPr>
      </p:sp>
      <p:sp>
        <p:nvSpPr>
          <p:cNvPr id="19" name="Shape 17"/>
          <p:cNvSpPr/>
          <p:nvPr/>
        </p:nvSpPr>
        <p:spPr>
          <a:xfrm>
            <a:off x="347472" y="4105656"/>
            <a:ext cx="548640" cy="548640"/>
          </a:xfrm>
          <a:prstGeom prst="ellipse">
            <a:avLst/>
          </a:prstGeom>
          <a:solidFill>
            <a:srgbClr val="E74C3C"/>
          </a:solidFill>
          <a:ln w="12700">
            <a:solidFill>
              <a:srgbClr val="E74C3C"/>
            </a:solidFill>
            <a:prstDash val="solid"/>
          </a:ln>
        </p:spPr>
      </p:sp>
      <p:sp>
        <p:nvSpPr>
          <p:cNvPr id="20" name="Text 18"/>
          <p:cNvSpPr/>
          <p:nvPr/>
        </p:nvSpPr>
        <p:spPr>
          <a:xfrm>
            <a:off x="347472" y="4105656"/>
            <a:ext cx="548640" cy="548640"/>
          </a:xfrm>
          <a:prstGeom prst="rect">
            <a:avLst/>
          </a:prstGeom>
          <a:noFill/>
          <a:ln/>
        </p:spPr>
        <p:txBody>
          <a:bodyPr wrap="square" lIns="0" tIns="0" rIns="0" bIns="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04</a:t>
            </a:r>
            <a:endParaRPr lang="en-US" sz="1300" dirty="0"/>
          </a:p>
        </p:txBody>
      </p:sp>
      <p:sp>
        <p:nvSpPr>
          <p:cNvPr id="21" name="Text 19"/>
          <p:cNvSpPr/>
          <p:nvPr/>
        </p:nvSpPr>
        <p:spPr>
          <a:xfrm>
            <a:off x="1005840" y="4014216"/>
            <a:ext cx="201168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Interactive Mapping</a:t>
            </a:r>
            <a:endParaRPr lang="en-US" sz="1400" dirty="0"/>
          </a:p>
        </p:txBody>
      </p:sp>
      <p:sp>
        <p:nvSpPr>
          <p:cNvPr id="22" name="Text 20"/>
          <p:cNvSpPr/>
          <p:nvPr/>
        </p:nvSpPr>
        <p:spPr>
          <a:xfrm>
            <a:off x="1005840" y="4352544"/>
            <a:ext cx="7680960" cy="411480"/>
          </a:xfrm>
          <a:prstGeom prst="rect">
            <a:avLst/>
          </a:prstGeom>
          <a:noFill/>
          <a:ln/>
        </p:spPr>
        <p:txBody>
          <a:bodyPr wrap="square" lIns="0" tIns="0" rIns="0" bIns="0" rtlCol="0" anchor="ctr"/>
          <a:lstStyle/>
          <a:p>
            <a:pPr marL="0" indent="0">
              <a:buNone/>
            </a:pPr>
            <a:r>
              <a:rPr lang="en-US" sz="1100" dirty="0">
                <a:solidFill>
                  <a:srgbClr val="ECF0F1"/>
                </a:solidFill>
                <a:latin typeface="Calibri" pitchFamily="34" charset="0"/>
                <a:ea typeface="Calibri" pitchFamily="34" charset="-122"/>
                <a:cs typeface="Calibri" pitchFamily="34" charset="-120"/>
              </a:rPr>
              <a:t>Built two Leaflet maps: (1) agricultural region dot map with color-coded circles, (2) crop overlay map with popups showing top 3 crops per governorate.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09728"/>
            <a:ext cx="8412480" cy="54864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R Libraries Used</a:t>
            </a:r>
            <a:endParaRPr lang="en-US" sz="3000" dirty="0"/>
          </a:p>
        </p:txBody>
      </p:sp>
      <p:sp>
        <p:nvSpPr>
          <p:cNvPr id="3" name="Shape 1"/>
          <p:cNvSpPr/>
          <p:nvPr/>
        </p:nvSpPr>
        <p:spPr>
          <a:xfrm>
            <a:off x="365760" y="658368"/>
            <a:ext cx="3200400" cy="36576"/>
          </a:xfrm>
          <a:prstGeom prst="rect">
            <a:avLst/>
          </a:prstGeom>
          <a:solidFill>
            <a:srgbClr val="2ECC71"/>
          </a:solidFill>
          <a:ln w="12700">
            <a:solidFill>
              <a:srgbClr val="2ECC71"/>
            </a:solidFill>
            <a:prstDash val="solid"/>
          </a:ln>
        </p:spPr>
      </p:sp>
      <p:sp>
        <p:nvSpPr>
          <p:cNvPr id="4" name="Shape 2"/>
          <p:cNvSpPr/>
          <p:nvPr/>
        </p:nvSpPr>
        <p:spPr>
          <a:xfrm>
            <a:off x="274320" y="804672"/>
            <a:ext cx="4206240" cy="621792"/>
          </a:xfrm>
          <a:prstGeom prst="rect">
            <a:avLst/>
          </a:prstGeom>
          <a:solidFill>
            <a:srgbClr val="1B3A5C"/>
          </a:solidFill>
          <a:ln/>
        </p:spPr>
      </p:sp>
      <p:sp>
        <p:nvSpPr>
          <p:cNvPr id="5" name="Shape 3"/>
          <p:cNvSpPr/>
          <p:nvPr/>
        </p:nvSpPr>
        <p:spPr>
          <a:xfrm>
            <a:off x="274320" y="804672"/>
            <a:ext cx="73152" cy="621792"/>
          </a:xfrm>
          <a:prstGeom prst="rect">
            <a:avLst/>
          </a:prstGeom>
          <a:solidFill>
            <a:srgbClr val="2ECC71"/>
          </a:solidFill>
          <a:ln w="12700">
            <a:solidFill>
              <a:srgbClr val="2ECC71"/>
            </a:solidFill>
            <a:prstDash val="solid"/>
          </a:ln>
        </p:spPr>
      </p:sp>
      <p:sp>
        <p:nvSpPr>
          <p:cNvPr id="6" name="Text 4"/>
          <p:cNvSpPr/>
          <p:nvPr/>
        </p:nvSpPr>
        <p:spPr>
          <a:xfrm>
            <a:off x="411480" y="841248"/>
            <a:ext cx="1463040" cy="256032"/>
          </a:xfrm>
          <a:prstGeom prst="rect">
            <a:avLst/>
          </a:prstGeom>
          <a:noFill/>
          <a:ln/>
        </p:spPr>
        <p:txBody>
          <a:bodyPr wrap="square" lIns="0" tIns="0" rIns="0" bIns="0" rtlCol="0" anchor="ctr"/>
          <a:lstStyle/>
          <a:p>
            <a:pPr marL="0" indent="0">
              <a:buNone/>
            </a:pPr>
            <a:r>
              <a:rPr lang="en-US" sz="1300" b="1" dirty="0">
                <a:solidFill>
                  <a:srgbClr val="2ECC71"/>
                </a:solidFill>
                <a:latin typeface="Calibri" pitchFamily="34" charset="0"/>
                <a:ea typeface="Calibri" pitchFamily="34" charset="-122"/>
                <a:cs typeface="Calibri" pitchFamily="34" charset="-120"/>
              </a:rPr>
              <a:t>sf</a:t>
            </a:r>
            <a:endParaRPr lang="en-US" sz="1300" dirty="0"/>
          </a:p>
        </p:txBody>
      </p:sp>
      <p:sp>
        <p:nvSpPr>
          <p:cNvPr id="7" name="Text 5"/>
          <p:cNvSpPr/>
          <p:nvPr/>
        </p:nvSpPr>
        <p:spPr>
          <a:xfrm>
            <a:off x="1920240" y="859536"/>
            <a:ext cx="731520" cy="201168"/>
          </a:xfrm>
          <a:prstGeom prst="rect">
            <a:avLst/>
          </a:prstGeom>
          <a:noFill/>
          <a:ln/>
        </p:spPr>
        <p:txBody>
          <a:bodyPr wrap="square" lIns="0" tIns="0" rIns="0" bIns="0" rtlCol="0" anchor="ctr"/>
          <a:lstStyle/>
          <a:p>
            <a:pPr marL="0" indent="0">
              <a:buNone/>
            </a:pPr>
            <a:r>
              <a:rPr lang="en-US" sz="900" i="1" dirty="0">
                <a:solidFill>
                  <a:srgbClr val="F39C12"/>
                </a:solidFill>
                <a:latin typeface="Calibri" pitchFamily="34" charset="0"/>
                <a:ea typeface="Calibri" pitchFamily="34" charset="-122"/>
                <a:cs typeface="Calibri" pitchFamily="34" charset="-120"/>
              </a:rPr>
              <a:t>CRAN</a:t>
            </a:r>
            <a:endParaRPr lang="en-US" sz="900" dirty="0"/>
          </a:p>
        </p:txBody>
      </p:sp>
      <p:sp>
        <p:nvSpPr>
          <p:cNvPr id="8" name="Text 6"/>
          <p:cNvSpPr/>
          <p:nvPr/>
        </p:nvSpPr>
        <p:spPr>
          <a:xfrm>
            <a:off x="411480" y="1106424"/>
            <a:ext cx="3977640" cy="274320"/>
          </a:xfrm>
          <a:prstGeom prst="rect">
            <a:avLst/>
          </a:prstGeom>
          <a:noFill/>
          <a:ln/>
        </p:spPr>
        <p:txBody>
          <a:bodyPr wrap="square" lIns="0" tIns="0" rIns="0" bIns="0" rtlCol="0" anchor="ctr"/>
          <a:lstStyle/>
          <a:p>
            <a:pPr marL="0" indent="0">
              <a:buNone/>
            </a:pPr>
            <a:r>
              <a:rPr lang="en-US" sz="950" dirty="0">
                <a:solidFill>
                  <a:srgbClr val="ECF0F1"/>
                </a:solidFill>
                <a:latin typeface="Calibri" pitchFamily="34" charset="0"/>
                <a:ea typeface="Calibri" pitchFamily="34" charset="-122"/>
                <a:cs typeface="Calibri" pitchFamily="34" charset="-120"/>
              </a:rPr>
              <a:t>Simple features — load, transform, and manipulate spatial data &amp; shapefiles</a:t>
            </a:r>
            <a:endParaRPr lang="en-US" sz="950" dirty="0"/>
          </a:p>
        </p:txBody>
      </p:sp>
      <p:sp>
        <p:nvSpPr>
          <p:cNvPr id="9" name="Shape 7"/>
          <p:cNvSpPr/>
          <p:nvPr/>
        </p:nvSpPr>
        <p:spPr>
          <a:xfrm>
            <a:off x="274320" y="1508760"/>
            <a:ext cx="4206240" cy="621792"/>
          </a:xfrm>
          <a:prstGeom prst="rect">
            <a:avLst/>
          </a:prstGeom>
          <a:solidFill>
            <a:srgbClr val="1B3A5C"/>
          </a:solidFill>
          <a:ln/>
        </p:spPr>
      </p:sp>
      <p:sp>
        <p:nvSpPr>
          <p:cNvPr id="10" name="Shape 8"/>
          <p:cNvSpPr/>
          <p:nvPr/>
        </p:nvSpPr>
        <p:spPr>
          <a:xfrm>
            <a:off x="274320" y="1508760"/>
            <a:ext cx="73152" cy="621792"/>
          </a:xfrm>
          <a:prstGeom prst="rect">
            <a:avLst/>
          </a:prstGeom>
          <a:solidFill>
            <a:srgbClr val="2ECC71"/>
          </a:solidFill>
          <a:ln w="12700">
            <a:solidFill>
              <a:srgbClr val="2ECC71"/>
            </a:solidFill>
            <a:prstDash val="solid"/>
          </a:ln>
        </p:spPr>
      </p:sp>
      <p:sp>
        <p:nvSpPr>
          <p:cNvPr id="11" name="Text 9"/>
          <p:cNvSpPr/>
          <p:nvPr/>
        </p:nvSpPr>
        <p:spPr>
          <a:xfrm>
            <a:off x="411480" y="1545336"/>
            <a:ext cx="1463040" cy="256032"/>
          </a:xfrm>
          <a:prstGeom prst="rect">
            <a:avLst/>
          </a:prstGeom>
          <a:noFill/>
          <a:ln/>
        </p:spPr>
        <p:txBody>
          <a:bodyPr wrap="square" lIns="0" tIns="0" rIns="0" bIns="0" rtlCol="0" anchor="ctr"/>
          <a:lstStyle/>
          <a:p>
            <a:pPr marL="0" indent="0">
              <a:buNone/>
            </a:pPr>
            <a:r>
              <a:rPr lang="en-US" sz="1300" b="1" dirty="0">
                <a:solidFill>
                  <a:srgbClr val="2ECC71"/>
                </a:solidFill>
                <a:latin typeface="Calibri" pitchFamily="34" charset="0"/>
                <a:ea typeface="Calibri" pitchFamily="34" charset="-122"/>
                <a:cs typeface="Calibri" pitchFamily="34" charset="-120"/>
              </a:rPr>
              <a:t>ggplot2</a:t>
            </a:r>
            <a:endParaRPr lang="en-US" sz="1300" dirty="0"/>
          </a:p>
        </p:txBody>
      </p:sp>
      <p:sp>
        <p:nvSpPr>
          <p:cNvPr id="12" name="Text 10"/>
          <p:cNvSpPr/>
          <p:nvPr/>
        </p:nvSpPr>
        <p:spPr>
          <a:xfrm>
            <a:off x="1920240" y="1563624"/>
            <a:ext cx="731520" cy="201168"/>
          </a:xfrm>
          <a:prstGeom prst="rect">
            <a:avLst/>
          </a:prstGeom>
          <a:noFill/>
          <a:ln/>
        </p:spPr>
        <p:txBody>
          <a:bodyPr wrap="square" lIns="0" tIns="0" rIns="0" bIns="0" rtlCol="0" anchor="ctr"/>
          <a:lstStyle/>
          <a:p>
            <a:pPr marL="0" indent="0">
              <a:buNone/>
            </a:pPr>
            <a:r>
              <a:rPr lang="en-US" sz="900" i="1" dirty="0">
                <a:solidFill>
                  <a:srgbClr val="F39C12"/>
                </a:solidFill>
                <a:latin typeface="Calibri" pitchFamily="34" charset="0"/>
                <a:ea typeface="Calibri" pitchFamily="34" charset="-122"/>
                <a:cs typeface="Calibri" pitchFamily="34" charset="-120"/>
              </a:rPr>
              <a:t>CRAN</a:t>
            </a:r>
            <a:endParaRPr lang="en-US" sz="900" dirty="0"/>
          </a:p>
        </p:txBody>
      </p:sp>
      <p:sp>
        <p:nvSpPr>
          <p:cNvPr id="13" name="Text 11"/>
          <p:cNvSpPr/>
          <p:nvPr/>
        </p:nvSpPr>
        <p:spPr>
          <a:xfrm>
            <a:off x="411480" y="1810512"/>
            <a:ext cx="3977640" cy="274320"/>
          </a:xfrm>
          <a:prstGeom prst="rect">
            <a:avLst/>
          </a:prstGeom>
          <a:noFill/>
          <a:ln/>
        </p:spPr>
        <p:txBody>
          <a:bodyPr wrap="square" lIns="0" tIns="0" rIns="0" bIns="0" rtlCol="0" anchor="ctr"/>
          <a:lstStyle/>
          <a:p>
            <a:pPr marL="0" indent="0">
              <a:buNone/>
            </a:pPr>
            <a:r>
              <a:rPr lang="en-US" sz="950" dirty="0">
                <a:solidFill>
                  <a:srgbClr val="ECF0F1"/>
                </a:solidFill>
                <a:latin typeface="Calibri" pitchFamily="34" charset="0"/>
                <a:ea typeface="Calibri" pitchFamily="34" charset="-122"/>
                <a:cs typeface="Calibri" pitchFamily="34" charset="-120"/>
              </a:rPr>
              <a:t>Static choropleth maps using geom_sf() with custom color scales and themes</a:t>
            </a:r>
            <a:endParaRPr lang="en-US" sz="950" dirty="0"/>
          </a:p>
        </p:txBody>
      </p:sp>
      <p:sp>
        <p:nvSpPr>
          <p:cNvPr id="14" name="Shape 12"/>
          <p:cNvSpPr/>
          <p:nvPr/>
        </p:nvSpPr>
        <p:spPr>
          <a:xfrm>
            <a:off x="274320" y="2212848"/>
            <a:ext cx="4206240" cy="621792"/>
          </a:xfrm>
          <a:prstGeom prst="rect">
            <a:avLst/>
          </a:prstGeom>
          <a:solidFill>
            <a:srgbClr val="1B3A5C"/>
          </a:solidFill>
          <a:ln/>
        </p:spPr>
      </p:sp>
      <p:sp>
        <p:nvSpPr>
          <p:cNvPr id="15" name="Shape 13"/>
          <p:cNvSpPr/>
          <p:nvPr/>
        </p:nvSpPr>
        <p:spPr>
          <a:xfrm>
            <a:off x="274320" y="2212848"/>
            <a:ext cx="73152" cy="621792"/>
          </a:xfrm>
          <a:prstGeom prst="rect">
            <a:avLst/>
          </a:prstGeom>
          <a:solidFill>
            <a:srgbClr val="2ECC71"/>
          </a:solidFill>
          <a:ln w="12700">
            <a:solidFill>
              <a:srgbClr val="2ECC71"/>
            </a:solidFill>
            <a:prstDash val="solid"/>
          </a:ln>
        </p:spPr>
      </p:sp>
      <p:sp>
        <p:nvSpPr>
          <p:cNvPr id="16" name="Text 14"/>
          <p:cNvSpPr/>
          <p:nvPr/>
        </p:nvSpPr>
        <p:spPr>
          <a:xfrm>
            <a:off x="411480" y="2249424"/>
            <a:ext cx="1463040" cy="256032"/>
          </a:xfrm>
          <a:prstGeom prst="rect">
            <a:avLst/>
          </a:prstGeom>
          <a:noFill/>
          <a:ln/>
        </p:spPr>
        <p:txBody>
          <a:bodyPr wrap="square" lIns="0" tIns="0" rIns="0" bIns="0" rtlCol="0" anchor="ctr"/>
          <a:lstStyle/>
          <a:p>
            <a:pPr marL="0" indent="0">
              <a:buNone/>
            </a:pPr>
            <a:r>
              <a:rPr lang="en-US" sz="1300" b="1" dirty="0">
                <a:solidFill>
                  <a:srgbClr val="2ECC71"/>
                </a:solidFill>
                <a:latin typeface="Calibri" pitchFamily="34" charset="0"/>
                <a:ea typeface="Calibri" pitchFamily="34" charset="-122"/>
                <a:cs typeface="Calibri" pitchFamily="34" charset="-120"/>
              </a:rPr>
              <a:t>geodata</a:t>
            </a:r>
            <a:endParaRPr lang="en-US" sz="1300" dirty="0"/>
          </a:p>
        </p:txBody>
      </p:sp>
      <p:sp>
        <p:nvSpPr>
          <p:cNvPr id="17" name="Text 15"/>
          <p:cNvSpPr/>
          <p:nvPr/>
        </p:nvSpPr>
        <p:spPr>
          <a:xfrm>
            <a:off x="1920240" y="2267712"/>
            <a:ext cx="731520" cy="201168"/>
          </a:xfrm>
          <a:prstGeom prst="rect">
            <a:avLst/>
          </a:prstGeom>
          <a:noFill/>
          <a:ln/>
        </p:spPr>
        <p:txBody>
          <a:bodyPr wrap="square" lIns="0" tIns="0" rIns="0" bIns="0" rtlCol="0" anchor="ctr"/>
          <a:lstStyle/>
          <a:p>
            <a:pPr marL="0" indent="0">
              <a:buNone/>
            </a:pPr>
            <a:r>
              <a:rPr lang="en-US" sz="900" i="1" dirty="0">
                <a:solidFill>
                  <a:srgbClr val="F39C12"/>
                </a:solidFill>
                <a:latin typeface="Calibri" pitchFamily="34" charset="0"/>
                <a:ea typeface="Calibri" pitchFamily="34" charset="-122"/>
                <a:cs typeface="Calibri" pitchFamily="34" charset="-120"/>
              </a:rPr>
              <a:t>CRAN</a:t>
            </a:r>
            <a:endParaRPr lang="en-US" sz="900" dirty="0"/>
          </a:p>
        </p:txBody>
      </p:sp>
      <p:sp>
        <p:nvSpPr>
          <p:cNvPr id="18" name="Text 16"/>
          <p:cNvSpPr/>
          <p:nvPr/>
        </p:nvSpPr>
        <p:spPr>
          <a:xfrm>
            <a:off x="411480" y="2514600"/>
            <a:ext cx="3977640" cy="274320"/>
          </a:xfrm>
          <a:prstGeom prst="rect">
            <a:avLst/>
          </a:prstGeom>
          <a:noFill/>
          <a:ln/>
        </p:spPr>
        <p:txBody>
          <a:bodyPr wrap="square" lIns="0" tIns="0" rIns="0" bIns="0" rtlCol="0" anchor="ctr"/>
          <a:lstStyle/>
          <a:p>
            <a:pPr marL="0" indent="0">
              <a:buNone/>
            </a:pPr>
            <a:r>
              <a:rPr lang="en-US" sz="950" dirty="0">
                <a:solidFill>
                  <a:srgbClr val="ECF0F1"/>
                </a:solidFill>
                <a:latin typeface="Calibri" pitchFamily="34" charset="0"/>
                <a:ea typeface="Calibri" pitchFamily="34" charset="-122"/>
                <a:cs typeface="Calibri" pitchFamily="34" charset="-120"/>
              </a:rPr>
              <a:t>Download GADM administrative boundary shapefiles directly in R</a:t>
            </a:r>
            <a:endParaRPr lang="en-US" sz="950" dirty="0"/>
          </a:p>
        </p:txBody>
      </p:sp>
      <p:sp>
        <p:nvSpPr>
          <p:cNvPr id="19" name="Shape 17"/>
          <p:cNvSpPr/>
          <p:nvPr/>
        </p:nvSpPr>
        <p:spPr>
          <a:xfrm>
            <a:off x="274320" y="2916936"/>
            <a:ext cx="4206240" cy="621792"/>
          </a:xfrm>
          <a:prstGeom prst="rect">
            <a:avLst/>
          </a:prstGeom>
          <a:solidFill>
            <a:srgbClr val="1B3A5C"/>
          </a:solidFill>
          <a:ln/>
        </p:spPr>
      </p:sp>
      <p:sp>
        <p:nvSpPr>
          <p:cNvPr id="20" name="Shape 18"/>
          <p:cNvSpPr/>
          <p:nvPr/>
        </p:nvSpPr>
        <p:spPr>
          <a:xfrm>
            <a:off x="274320" y="2916936"/>
            <a:ext cx="73152" cy="621792"/>
          </a:xfrm>
          <a:prstGeom prst="rect">
            <a:avLst/>
          </a:prstGeom>
          <a:solidFill>
            <a:srgbClr val="2ECC71"/>
          </a:solidFill>
          <a:ln w="12700">
            <a:solidFill>
              <a:srgbClr val="2ECC71"/>
            </a:solidFill>
            <a:prstDash val="solid"/>
          </a:ln>
        </p:spPr>
      </p:sp>
      <p:sp>
        <p:nvSpPr>
          <p:cNvPr id="21" name="Text 19"/>
          <p:cNvSpPr/>
          <p:nvPr/>
        </p:nvSpPr>
        <p:spPr>
          <a:xfrm>
            <a:off x="411480" y="2953512"/>
            <a:ext cx="1463040" cy="256032"/>
          </a:xfrm>
          <a:prstGeom prst="rect">
            <a:avLst/>
          </a:prstGeom>
          <a:noFill/>
          <a:ln/>
        </p:spPr>
        <p:txBody>
          <a:bodyPr wrap="square" lIns="0" tIns="0" rIns="0" bIns="0" rtlCol="0" anchor="ctr"/>
          <a:lstStyle/>
          <a:p>
            <a:pPr marL="0" indent="0">
              <a:buNone/>
            </a:pPr>
            <a:r>
              <a:rPr lang="en-US" sz="1300" b="1" dirty="0">
                <a:solidFill>
                  <a:srgbClr val="2ECC71"/>
                </a:solidFill>
                <a:latin typeface="Calibri" pitchFamily="34" charset="0"/>
                <a:ea typeface="Calibri" pitchFamily="34" charset="-122"/>
                <a:cs typeface="Calibri" pitchFamily="34" charset="-120"/>
              </a:rPr>
              <a:t>leaflet</a:t>
            </a:r>
            <a:endParaRPr lang="en-US" sz="1300" dirty="0"/>
          </a:p>
        </p:txBody>
      </p:sp>
      <p:sp>
        <p:nvSpPr>
          <p:cNvPr id="22" name="Text 20"/>
          <p:cNvSpPr/>
          <p:nvPr/>
        </p:nvSpPr>
        <p:spPr>
          <a:xfrm>
            <a:off x="1920240" y="2971800"/>
            <a:ext cx="731520" cy="201168"/>
          </a:xfrm>
          <a:prstGeom prst="rect">
            <a:avLst/>
          </a:prstGeom>
          <a:noFill/>
          <a:ln/>
        </p:spPr>
        <p:txBody>
          <a:bodyPr wrap="square" lIns="0" tIns="0" rIns="0" bIns="0" rtlCol="0" anchor="ctr"/>
          <a:lstStyle/>
          <a:p>
            <a:pPr marL="0" indent="0">
              <a:buNone/>
            </a:pPr>
            <a:r>
              <a:rPr lang="en-US" sz="900" i="1" dirty="0">
                <a:solidFill>
                  <a:srgbClr val="F39C12"/>
                </a:solidFill>
                <a:latin typeface="Calibri" pitchFamily="34" charset="0"/>
                <a:ea typeface="Calibri" pitchFamily="34" charset="-122"/>
                <a:cs typeface="Calibri" pitchFamily="34" charset="-120"/>
              </a:rPr>
              <a:t>CRAN</a:t>
            </a:r>
            <a:endParaRPr lang="en-US" sz="900" dirty="0"/>
          </a:p>
        </p:txBody>
      </p:sp>
      <p:sp>
        <p:nvSpPr>
          <p:cNvPr id="23" name="Text 21"/>
          <p:cNvSpPr/>
          <p:nvPr/>
        </p:nvSpPr>
        <p:spPr>
          <a:xfrm>
            <a:off x="411480" y="3218688"/>
            <a:ext cx="3977640" cy="274320"/>
          </a:xfrm>
          <a:prstGeom prst="rect">
            <a:avLst/>
          </a:prstGeom>
          <a:noFill/>
          <a:ln/>
        </p:spPr>
        <p:txBody>
          <a:bodyPr wrap="square" lIns="0" tIns="0" rIns="0" bIns="0" rtlCol="0" anchor="ctr"/>
          <a:lstStyle/>
          <a:p>
            <a:pPr marL="0" indent="0">
              <a:buNone/>
            </a:pPr>
            <a:r>
              <a:rPr lang="en-US" sz="950" dirty="0">
                <a:solidFill>
                  <a:srgbClr val="ECF0F1"/>
                </a:solidFill>
                <a:latin typeface="Calibri" pitchFamily="34" charset="0"/>
                <a:ea typeface="Calibri" pitchFamily="34" charset="-122"/>
                <a:cs typeface="Calibri" pitchFamily="34" charset="-120"/>
              </a:rPr>
              <a:t>Interactive web maps — circle markers with color-coded agricultural regions</a:t>
            </a:r>
            <a:endParaRPr lang="en-US" sz="950" dirty="0"/>
          </a:p>
        </p:txBody>
      </p:sp>
      <p:sp>
        <p:nvSpPr>
          <p:cNvPr id="24" name="Shape 22"/>
          <p:cNvSpPr/>
          <p:nvPr/>
        </p:nvSpPr>
        <p:spPr>
          <a:xfrm>
            <a:off x="274320" y="3621024"/>
            <a:ext cx="4206240" cy="621792"/>
          </a:xfrm>
          <a:prstGeom prst="rect">
            <a:avLst/>
          </a:prstGeom>
          <a:solidFill>
            <a:srgbClr val="1B3A5C"/>
          </a:solidFill>
          <a:ln/>
        </p:spPr>
      </p:sp>
      <p:sp>
        <p:nvSpPr>
          <p:cNvPr id="25" name="Shape 23"/>
          <p:cNvSpPr/>
          <p:nvPr/>
        </p:nvSpPr>
        <p:spPr>
          <a:xfrm>
            <a:off x="274320" y="3621024"/>
            <a:ext cx="73152" cy="621792"/>
          </a:xfrm>
          <a:prstGeom prst="rect">
            <a:avLst/>
          </a:prstGeom>
          <a:solidFill>
            <a:srgbClr val="2ECC71"/>
          </a:solidFill>
          <a:ln w="12700">
            <a:solidFill>
              <a:srgbClr val="2ECC71"/>
            </a:solidFill>
            <a:prstDash val="solid"/>
          </a:ln>
        </p:spPr>
      </p:sp>
      <p:sp>
        <p:nvSpPr>
          <p:cNvPr id="26" name="Text 24"/>
          <p:cNvSpPr/>
          <p:nvPr/>
        </p:nvSpPr>
        <p:spPr>
          <a:xfrm>
            <a:off x="411480" y="3657600"/>
            <a:ext cx="1463040" cy="256032"/>
          </a:xfrm>
          <a:prstGeom prst="rect">
            <a:avLst/>
          </a:prstGeom>
          <a:noFill/>
          <a:ln/>
        </p:spPr>
        <p:txBody>
          <a:bodyPr wrap="square" lIns="0" tIns="0" rIns="0" bIns="0" rtlCol="0" anchor="ctr"/>
          <a:lstStyle/>
          <a:p>
            <a:pPr marL="0" indent="0">
              <a:buNone/>
            </a:pPr>
            <a:r>
              <a:rPr lang="en-US" sz="1300" b="1" dirty="0">
                <a:solidFill>
                  <a:srgbClr val="2ECC71"/>
                </a:solidFill>
                <a:latin typeface="Calibri" pitchFamily="34" charset="0"/>
                <a:ea typeface="Calibri" pitchFamily="34" charset="-122"/>
                <a:cs typeface="Calibri" pitchFamily="34" charset="-120"/>
              </a:rPr>
              <a:t>htmlwidgets</a:t>
            </a:r>
            <a:endParaRPr lang="en-US" sz="1300" dirty="0"/>
          </a:p>
        </p:txBody>
      </p:sp>
      <p:sp>
        <p:nvSpPr>
          <p:cNvPr id="27" name="Text 25"/>
          <p:cNvSpPr/>
          <p:nvPr/>
        </p:nvSpPr>
        <p:spPr>
          <a:xfrm>
            <a:off x="1920240" y="3675888"/>
            <a:ext cx="731520" cy="201168"/>
          </a:xfrm>
          <a:prstGeom prst="rect">
            <a:avLst/>
          </a:prstGeom>
          <a:noFill/>
          <a:ln/>
        </p:spPr>
        <p:txBody>
          <a:bodyPr wrap="square" lIns="0" tIns="0" rIns="0" bIns="0" rtlCol="0" anchor="ctr"/>
          <a:lstStyle/>
          <a:p>
            <a:pPr marL="0" indent="0">
              <a:buNone/>
            </a:pPr>
            <a:r>
              <a:rPr lang="en-US" sz="900" i="1" dirty="0">
                <a:solidFill>
                  <a:srgbClr val="F39C12"/>
                </a:solidFill>
                <a:latin typeface="Calibri" pitchFamily="34" charset="0"/>
                <a:ea typeface="Calibri" pitchFamily="34" charset="-122"/>
                <a:cs typeface="Calibri" pitchFamily="34" charset="-120"/>
              </a:rPr>
              <a:t>CRAN</a:t>
            </a:r>
            <a:endParaRPr lang="en-US" sz="900" dirty="0"/>
          </a:p>
        </p:txBody>
      </p:sp>
      <p:sp>
        <p:nvSpPr>
          <p:cNvPr id="28" name="Text 26"/>
          <p:cNvSpPr/>
          <p:nvPr/>
        </p:nvSpPr>
        <p:spPr>
          <a:xfrm>
            <a:off x="411480" y="3922776"/>
            <a:ext cx="3977640" cy="274320"/>
          </a:xfrm>
          <a:prstGeom prst="rect">
            <a:avLst/>
          </a:prstGeom>
          <a:noFill/>
          <a:ln/>
        </p:spPr>
        <p:txBody>
          <a:bodyPr wrap="square" lIns="0" tIns="0" rIns="0" bIns="0" rtlCol="0" anchor="ctr"/>
          <a:lstStyle/>
          <a:p>
            <a:pPr marL="0" indent="0">
              <a:buNone/>
            </a:pPr>
            <a:r>
              <a:rPr lang="en-US" sz="950" dirty="0">
                <a:solidFill>
                  <a:srgbClr val="ECF0F1"/>
                </a:solidFill>
                <a:latin typeface="Calibri" pitchFamily="34" charset="0"/>
                <a:ea typeface="Calibri" pitchFamily="34" charset="-122"/>
                <a:cs typeface="Calibri" pitchFamily="34" charset="-120"/>
              </a:rPr>
              <a:t>Export Leaflet and Plotly maps as self-contained HTML files</a:t>
            </a:r>
            <a:endParaRPr lang="en-US" sz="950" dirty="0"/>
          </a:p>
        </p:txBody>
      </p:sp>
      <p:sp>
        <p:nvSpPr>
          <p:cNvPr id="29" name="Shape 27"/>
          <p:cNvSpPr/>
          <p:nvPr/>
        </p:nvSpPr>
        <p:spPr>
          <a:xfrm>
            <a:off x="274320" y="4325112"/>
            <a:ext cx="4206240" cy="621792"/>
          </a:xfrm>
          <a:prstGeom prst="rect">
            <a:avLst/>
          </a:prstGeom>
          <a:solidFill>
            <a:srgbClr val="1B3A5C"/>
          </a:solidFill>
          <a:ln/>
        </p:spPr>
      </p:sp>
      <p:sp>
        <p:nvSpPr>
          <p:cNvPr id="30" name="Shape 28"/>
          <p:cNvSpPr/>
          <p:nvPr/>
        </p:nvSpPr>
        <p:spPr>
          <a:xfrm>
            <a:off x="274320" y="4325112"/>
            <a:ext cx="73152" cy="621792"/>
          </a:xfrm>
          <a:prstGeom prst="rect">
            <a:avLst/>
          </a:prstGeom>
          <a:solidFill>
            <a:srgbClr val="2ECC71"/>
          </a:solidFill>
          <a:ln w="12700">
            <a:solidFill>
              <a:srgbClr val="2ECC71"/>
            </a:solidFill>
            <a:prstDash val="solid"/>
          </a:ln>
        </p:spPr>
      </p:sp>
      <p:sp>
        <p:nvSpPr>
          <p:cNvPr id="31" name="Text 29"/>
          <p:cNvSpPr/>
          <p:nvPr/>
        </p:nvSpPr>
        <p:spPr>
          <a:xfrm>
            <a:off x="411480" y="4361688"/>
            <a:ext cx="1463040" cy="256032"/>
          </a:xfrm>
          <a:prstGeom prst="rect">
            <a:avLst/>
          </a:prstGeom>
          <a:noFill/>
          <a:ln/>
        </p:spPr>
        <p:txBody>
          <a:bodyPr wrap="square" lIns="0" tIns="0" rIns="0" bIns="0" rtlCol="0" anchor="ctr"/>
          <a:lstStyle/>
          <a:p>
            <a:pPr marL="0" indent="0">
              <a:buNone/>
            </a:pPr>
            <a:r>
              <a:rPr lang="en-US" sz="1300" b="1" dirty="0">
                <a:solidFill>
                  <a:srgbClr val="2ECC71"/>
                </a:solidFill>
                <a:latin typeface="Calibri" pitchFamily="34" charset="0"/>
                <a:ea typeface="Calibri" pitchFamily="34" charset="-122"/>
                <a:cs typeface="Calibri" pitchFamily="34" charset="-120"/>
              </a:rPr>
              <a:t>plotly</a:t>
            </a:r>
            <a:endParaRPr lang="en-US" sz="1300" dirty="0"/>
          </a:p>
        </p:txBody>
      </p:sp>
      <p:sp>
        <p:nvSpPr>
          <p:cNvPr id="32" name="Text 30"/>
          <p:cNvSpPr/>
          <p:nvPr/>
        </p:nvSpPr>
        <p:spPr>
          <a:xfrm>
            <a:off x="1920240" y="4379976"/>
            <a:ext cx="731520" cy="201168"/>
          </a:xfrm>
          <a:prstGeom prst="rect">
            <a:avLst/>
          </a:prstGeom>
          <a:noFill/>
          <a:ln/>
        </p:spPr>
        <p:txBody>
          <a:bodyPr wrap="square" lIns="0" tIns="0" rIns="0" bIns="0" rtlCol="0" anchor="ctr"/>
          <a:lstStyle/>
          <a:p>
            <a:pPr marL="0" indent="0">
              <a:buNone/>
            </a:pPr>
            <a:r>
              <a:rPr lang="en-US" sz="900" i="1" dirty="0">
                <a:solidFill>
                  <a:srgbClr val="F39C12"/>
                </a:solidFill>
                <a:latin typeface="Calibri" pitchFamily="34" charset="0"/>
                <a:ea typeface="Calibri" pitchFamily="34" charset="-122"/>
                <a:cs typeface="Calibri" pitchFamily="34" charset="-120"/>
              </a:rPr>
              <a:t>CRAN</a:t>
            </a:r>
            <a:endParaRPr lang="en-US" sz="900" dirty="0"/>
          </a:p>
        </p:txBody>
      </p:sp>
      <p:sp>
        <p:nvSpPr>
          <p:cNvPr id="33" name="Text 31"/>
          <p:cNvSpPr/>
          <p:nvPr/>
        </p:nvSpPr>
        <p:spPr>
          <a:xfrm>
            <a:off x="411480" y="4626864"/>
            <a:ext cx="3977640" cy="274320"/>
          </a:xfrm>
          <a:prstGeom prst="rect">
            <a:avLst/>
          </a:prstGeom>
          <a:noFill/>
          <a:ln/>
        </p:spPr>
        <p:txBody>
          <a:bodyPr wrap="square" lIns="0" tIns="0" rIns="0" bIns="0" rtlCol="0" anchor="ctr"/>
          <a:lstStyle/>
          <a:p>
            <a:pPr marL="0" indent="0">
              <a:buNone/>
            </a:pPr>
            <a:r>
              <a:rPr lang="en-US" sz="950" dirty="0">
                <a:solidFill>
                  <a:srgbClr val="ECF0F1"/>
                </a:solidFill>
                <a:latin typeface="Calibri" pitchFamily="34" charset="0"/>
                <a:ea typeface="Calibri" pitchFamily="34" charset="-122"/>
                <a:cs typeface="Calibri" pitchFamily="34" charset="-120"/>
              </a:rPr>
              <a:t>Convert ggplot2 to interactive hover maps via ggplotly()</a:t>
            </a:r>
            <a:endParaRPr lang="en-US" sz="950" dirty="0"/>
          </a:p>
        </p:txBody>
      </p:sp>
      <p:sp>
        <p:nvSpPr>
          <p:cNvPr id="34" name="Shape 32"/>
          <p:cNvSpPr/>
          <p:nvPr/>
        </p:nvSpPr>
        <p:spPr>
          <a:xfrm>
            <a:off x="4709160" y="804672"/>
            <a:ext cx="4206240" cy="621792"/>
          </a:xfrm>
          <a:prstGeom prst="rect">
            <a:avLst/>
          </a:prstGeom>
          <a:solidFill>
            <a:srgbClr val="1B3A5C"/>
          </a:solidFill>
          <a:ln/>
        </p:spPr>
      </p:sp>
      <p:sp>
        <p:nvSpPr>
          <p:cNvPr id="35" name="Shape 33"/>
          <p:cNvSpPr/>
          <p:nvPr/>
        </p:nvSpPr>
        <p:spPr>
          <a:xfrm>
            <a:off x="4709160" y="804672"/>
            <a:ext cx="73152" cy="621792"/>
          </a:xfrm>
          <a:prstGeom prst="rect">
            <a:avLst/>
          </a:prstGeom>
          <a:solidFill>
            <a:srgbClr val="3498DB"/>
          </a:solidFill>
          <a:ln w="12700">
            <a:solidFill>
              <a:srgbClr val="3498DB"/>
            </a:solidFill>
            <a:prstDash val="solid"/>
          </a:ln>
        </p:spPr>
      </p:sp>
      <p:sp>
        <p:nvSpPr>
          <p:cNvPr id="36" name="Text 34"/>
          <p:cNvSpPr/>
          <p:nvPr/>
        </p:nvSpPr>
        <p:spPr>
          <a:xfrm>
            <a:off x="4846320" y="841248"/>
            <a:ext cx="1463040" cy="256032"/>
          </a:xfrm>
          <a:prstGeom prst="rect">
            <a:avLst/>
          </a:prstGeom>
          <a:noFill/>
          <a:ln/>
        </p:spPr>
        <p:txBody>
          <a:bodyPr wrap="square" lIns="0" tIns="0" rIns="0" bIns="0" rtlCol="0" anchor="ctr"/>
          <a:lstStyle/>
          <a:p>
            <a:pPr marL="0" indent="0">
              <a:buNone/>
            </a:pPr>
            <a:r>
              <a:rPr lang="en-US" sz="1300" b="1" dirty="0">
                <a:solidFill>
                  <a:srgbClr val="3498DB"/>
                </a:solidFill>
                <a:latin typeface="Calibri" pitchFamily="34" charset="0"/>
                <a:ea typeface="Calibri" pitchFamily="34" charset="-122"/>
                <a:cs typeface="Calibri" pitchFamily="34" charset="-120"/>
              </a:rPr>
              <a:t>dplyr</a:t>
            </a:r>
            <a:endParaRPr lang="en-US" sz="1300" dirty="0"/>
          </a:p>
        </p:txBody>
      </p:sp>
      <p:sp>
        <p:nvSpPr>
          <p:cNvPr id="37" name="Text 35"/>
          <p:cNvSpPr/>
          <p:nvPr/>
        </p:nvSpPr>
        <p:spPr>
          <a:xfrm>
            <a:off x="6355080" y="859536"/>
            <a:ext cx="731520" cy="201168"/>
          </a:xfrm>
          <a:prstGeom prst="rect">
            <a:avLst/>
          </a:prstGeom>
          <a:noFill/>
          <a:ln/>
        </p:spPr>
        <p:txBody>
          <a:bodyPr wrap="square" lIns="0" tIns="0" rIns="0" bIns="0" rtlCol="0" anchor="ctr"/>
          <a:lstStyle/>
          <a:p>
            <a:pPr marL="0" indent="0">
              <a:buNone/>
            </a:pPr>
            <a:r>
              <a:rPr lang="en-US" sz="900" i="1" dirty="0">
                <a:solidFill>
                  <a:srgbClr val="F39C12"/>
                </a:solidFill>
                <a:latin typeface="Calibri" pitchFamily="34" charset="0"/>
                <a:ea typeface="Calibri" pitchFamily="34" charset="-122"/>
                <a:cs typeface="Calibri" pitchFamily="34" charset="-120"/>
              </a:rPr>
              <a:t>CRAN</a:t>
            </a:r>
            <a:endParaRPr lang="en-US" sz="900" dirty="0"/>
          </a:p>
        </p:txBody>
      </p:sp>
      <p:sp>
        <p:nvSpPr>
          <p:cNvPr id="38" name="Text 36"/>
          <p:cNvSpPr/>
          <p:nvPr/>
        </p:nvSpPr>
        <p:spPr>
          <a:xfrm>
            <a:off x="4846320" y="1106424"/>
            <a:ext cx="3977640" cy="274320"/>
          </a:xfrm>
          <a:prstGeom prst="rect">
            <a:avLst/>
          </a:prstGeom>
          <a:noFill/>
          <a:ln/>
        </p:spPr>
        <p:txBody>
          <a:bodyPr wrap="square" lIns="0" tIns="0" rIns="0" bIns="0" rtlCol="0" anchor="ctr"/>
          <a:lstStyle/>
          <a:p>
            <a:pPr marL="0" indent="0">
              <a:buNone/>
            </a:pPr>
            <a:r>
              <a:rPr lang="en-US" sz="950" dirty="0">
                <a:solidFill>
                  <a:srgbClr val="ECF0F1"/>
                </a:solidFill>
                <a:latin typeface="Calibri" pitchFamily="34" charset="0"/>
                <a:ea typeface="Calibri" pitchFamily="34" charset="-122"/>
                <a:cs typeface="Calibri" pitchFamily="34" charset="-120"/>
              </a:rPr>
              <a:t>Data wrangling — filter, mutate, merge agricultural data with spatial layers</a:t>
            </a:r>
            <a:endParaRPr lang="en-US" sz="950" dirty="0"/>
          </a:p>
        </p:txBody>
      </p:sp>
      <p:sp>
        <p:nvSpPr>
          <p:cNvPr id="39" name="Shape 37"/>
          <p:cNvSpPr/>
          <p:nvPr/>
        </p:nvSpPr>
        <p:spPr>
          <a:xfrm>
            <a:off x="4709160" y="1508760"/>
            <a:ext cx="4206240" cy="621792"/>
          </a:xfrm>
          <a:prstGeom prst="rect">
            <a:avLst/>
          </a:prstGeom>
          <a:solidFill>
            <a:srgbClr val="1B3A5C"/>
          </a:solidFill>
          <a:ln/>
        </p:spPr>
      </p:sp>
      <p:sp>
        <p:nvSpPr>
          <p:cNvPr id="40" name="Shape 38"/>
          <p:cNvSpPr/>
          <p:nvPr/>
        </p:nvSpPr>
        <p:spPr>
          <a:xfrm>
            <a:off x="4709160" y="1508760"/>
            <a:ext cx="73152" cy="621792"/>
          </a:xfrm>
          <a:prstGeom prst="rect">
            <a:avLst/>
          </a:prstGeom>
          <a:solidFill>
            <a:srgbClr val="3498DB"/>
          </a:solidFill>
          <a:ln w="12700">
            <a:solidFill>
              <a:srgbClr val="3498DB"/>
            </a:solidFill>
            <a:prstDash val="solid"/>
          </a:ln>
        </p:spPr>
      </p:sp>
      <p:sp>
        <p:nvSpPr>
          <p:cNvPr id="41" name="Text 39"/>
          <p:cNvSpPr/>
          <p:nvPr/>
        </p:nvSpPr>
        <p:spPr>
          <a:xfrm>
            <a:off x="4846320" y="1545336"/>
            <a:ext cx="1463040" cy="256032"/>
          </a:xfrm>
          <a:prstGeom prst="rect">
            <a:avLst/>
          </a:prstGeom>
          <a:noFill/>
          <a:ln/>
        </p:spPr>
        <p:txBody>
          <a:bodyPr wrap="square" lIns="0" tIns="0" rIns="0" bIns="0" rtlCol="0" anchor="ctr"/>
          <a:lstStyle/>
          <a:p>
            <a:pPr marL="0" indent="0">
              <a:buNone/>
            </a:pPr>
            <a:r>
              <a:rPr lang="en-US" sz="1300" b="1" dirty="0">
                <a:solidFill>
                  <a:srgbClr val="3498DB"/>
                </a:solidFill>
                <a:latin typeface="Calibri" pitchFamily="34" charset="0"/>
                <a:ea typeface="Calibri" pitchFamily="34" charset="-122"/>
                <a:cs typeface="Calibri" pitchFamily="34" charset="-120"/>
              </a:rPr>
              <a:t>stringr</a:t>
            </a:r>
            <a:endParaRPr lang="en-US" sz="1300" dirty="0"/>
          </a:p>
        </p:txBody>
      </p:sp>
      <p:sp>
        <p:nvSpPr>
          <p:cNvPr id="42" name="Text 40"/>
          <p:cNvSpPr/>
          <p:nvPr/>
        </p:nvSpPr>
        <p:spPr>
          <a:xfrm>
            <a:off x="6355080" y="1563624"/>
            <a:ext cx="731520" cy="201168"/>
          </a:xfrm>
          <a:prstGeom prst="rect">
            <a:avLst/>
          </a:prstGeom>
          <a:noFill/>
          <a:ln/>
        </p:spPr>
        <p:txBody>
          <a:bodyPr wrap="square" lIns="0" tIns="0" rIns="0" bIns="0" rtlCol="0" anchor="ctr"/>
          <a:lstStyle/>
          <a:p>
            <a:pPr marL="0" indent="0">
              <a:buNone/>
            </a:pPr>
            <a:r>
              <a:rPr lang="en-US" sz="900" i="1" dirty="0">
                <a:solidFill>
                  <a:srgbClr val="F39C12"/>
                </a:solidFill>
                <a:latin typeface="Calibri" pitchFamily="34" charset="0"/>
                <a:ea typeface="Calibri" pitchFamily="34" charset="-122"/>
                <a:cs typeface="Calibri" pitchFamily="34" charset="-120"/>
              </a:rPr>
              <a:t>CRAN</a:t>
            </a:r>
            <a:endParaRPr lang="en-US" sz="900" dirty="0"/>
          </a:p>
        </p:txBody>
      </p:sp>
      <p:sp>
        <p:nvSpPr>
          <p:cNvPr id="43" name="Text 41"/>
          <p:cNvSpPr/>
          <p:nvPr/>
        </p:nvSpPr>
        <p:spPr>
          <a:xfrm>
            <a:off x="4846320" y="1810512"/>
            <a:ext cx="3977640" cy="274320"/>
          </a:xfrm>
          <a:prstGeom prst="rect">
            <a:avLst/>
          </a:prstGeom>
          <a:noFill/>
          <a:ln/>
        </p:spPr>
        <p:txBody>
          <a:bodyPr wrap="square" lIns="0" tIns="0" rIns="0" bIns="0" rtlCol="0" anchor="ctr"/>
          <a:lstStyle/>
          <a:p>
            <a:pPr marL="0" indent="0">
              <a:buNone/>
            </a:pPr>
            <a:r>
              <a:rPr lang="en-US" sz="950" dirty="0">
                <a:solidFill>
                  <a:srgbClr val="ECF0F1"/>
                </a:solidFill>
                <a:latin typeface="Calibri" pitchFamily="34" charset="0"/>
                <a:ea typeface="Calibri" pitchFamily="34" charset="-122"/>
                <a:cs typeface="Calibri" pitchFamily="34" charset="-120"/>
              </a:rPr>
              <a:t>String cleaning for smart fuzzy matching of governorate names</a:t>
            </a:r>
            <a:endParaRPr lang="en-US" sz="950" dirty="0"/>
          </a:p>
        </p:txBody>
      </p:sp>
      <p:sp>
        <p:nvSpPr>
          <p:cNvPr id="44" name="Shape 42"/>
          <p:cNvSpPr/>
          <p:nvPr/>
        </p:nvSpPr>
        <p:spPr>
          <a:xfrm>
            <a:off x="4709160" y="2212848"/>
            <a:ext cx="4206240" cy="621792"/>
          </a:xfrm>
          <a:prstGeom prst="rect">
            <a:avLst/>
          </a:prstGeom>
          <a:solidFill>
            <a:srgbClr val="1B3A5C"/>
          </a:solidFill>
          <a:ln/>
        </p:spPr>
      </p:sp>
      <p:sp>
        <p:nvSpPr>
          <p:cNvPr id="45" name="Shape 43"/>
          <p:cNvSpPr/>
          <p:nvPr/>
        </p:nvSpPr>
        <p:spPr>
          <a:xfrm>
            <a:off x="4709160" y="2212848"/>
            <a:ext cx="73152" cy="621792"/>
          </a:xfrm>
          <a:prstGeom prst="rect">
            <a:avLst/>
          </a:prstGeom>
          <a:solidFill>
            <a:srgbClr val="3498DB"/>
          </a:solidFill>
          <a:ln w="12700">
            <a:solidFill>
              <a:srgbClr val="3498DB"/>
            </a:solidFill>
            <a:prstDash val="solid"/>
          </a:ln>
        </p:spPr>
      </p:sp>
      <p:sp>
        <p:nvSpPr>
          <p:cNvPr id="46" name="Text 44"/>
          <p:cNvSpPr/>
          <p:nvPr/>
        </p:nvSpPr>
        <p:spPr>
          <a:xfrm>
            <a:off x="4846320" y="2249424"/>
            <a:ext cx="1463040" cy="256032"/>
          </a:xfrm>
          <a:prstGeom prst="rect">
            <a:avLst/>
          </a:prstGeom>
          <a:noFill/>
          <a:ln/>
        </p:spPr>
        <p:txBody>
          <a:bodyPr wrap="square" lIns="0" tIns="0" rIns="0" bIns="0" rtlCol="0" anchor="ctr"/>
          <a:lstStyle/>
          <a:p>
            <a:pPr marL="0" indent="0">
              <a:buNone/>
            </a:pPr>
            <a:r>
              <a:rPr lang="en-US" sz="1300" b="1" dirty="0">
                <a:solidFill>
                  <a:srgbClr val="3498DB"/>
                </a:solidFill>
                <a:latin typeface="Calibri" pitchFamily="34" charset="0"/>
                <a:ea typeface="Calibri" pitchFamily="34" charset="-122"/>
                <a:cs typeface="Calibri" pitchFamily="34" charset="-120"/>
              </a:rPr>
              <a:t>scales</a:t>
            </a:r>
            <a:endParaRPr lang="en-US" sz="1300" dirty="0"/>
          </a:p>
        </p:txBody>
      </p:sp>
      <p:sp>
        <p:nvSpPr>
          <p:cNvPr id="47" name="Text 45"/>
          <p:cNvSpPr/>
          <p:nvPr/>
        </p:nvSpPr>
        <p:spPr>
          <a:xfrm>
            <a:off x="6355080" y="2267712"/>
            <a:ext cx="731520" cy="201168"/>
          </a:xfrm>
          <a:prstGeom prst="rect">
            <a:avLst/>
          </a:prstGeom>
          <a:noFill/>
          <a:ln/>
        </p:spPr>
        <p:txBody>
          <a:bodyPr wrap="square" lIns="0" tIns="0" rIns="0" bIns="0" rtlCol="0" anchor="ctr"/>
          <a:lstStyle/>
          <a:p>
            <a:pPr marL="0" indent="0">
              <a:buNone/>
            </a:pPr>
            <a:r>
              <a:rPr lang="en-US" sz="900" i="1" dirty="0">
                <a:solidFill>
                  <a:srgbClr val="F39C12"/>
                </a:solidFill>
                <a:latin typeface="Calibri" pitchFamily="34" charset="0"/>
                <a:ea typeface="Calibri" pitchFamily="34" charset="-122"/>
                <a:cs typeface="Calibri" pitchFamily="34" charset="-120"/>
              </a:rPr>
              <a:t>CRAN</a:t>
            </a:r>
            <a:endParaRPr lang="en-US" sz="900" dirty="0"/>
          </a:p>
        </p:txBody>
      </p:sp>
      <p:sp>
        <p:nvSpPr>
          <p:cNvPr id="48" name="Text 46"/>
          <p:cNvSpPr/>
          <p:nvPr/>
        </p:nvSpPr>
        <p:spPr>
          <a:xfrm>
            <a:off x="4846320" y="2514600"/>
            <a:ext cx="3977640" cy="274320"/>
          </a:xfrm>
          <a:prstGeom prst="rect">
            <a:avLst/>
          </a:prstGeom>
          <a:noFill/>
          <a:ln/>
        </p:spPr>
        <p:txBody>
          <a:bodyPr wrap="square" lIns="0" tIns="0" rIns="0" bIns="0" rtlCol="0" anchor="ctr"/>
          <a:lstStyle/>
          <a:p>
            <a:pPr marL="0" indent="0">
              <a:buNone/>
            </a:pPr>
            <a:r>
              <a:rPr lang="en-US" sz="950" dirty="0">
                <a:solidFill>
                  <a:srgbClr val="ECF0F1"/>
                </a:solidFill>
                <a:latin typeface="Calibri" pitchFamily="34" charset="0"/>
                <a:ea typeface="Calibri" pitchFamily="34" charset="-122"/>
                <a:cs typeface="Calibri" pitchFamily="34" charset="-120"/>
              </a:rPr>
              <a:t>Rescale suitability scores for gradient color mapping</a:t>
            </a:r>
            <a:endParaRPr lang="en-US" sz="950" dirty="0"/>
          </a:p>
        </p:txBody>
      </p:sp>
      <p:sp>
        <p:nvSpPr>
          <p:cNvPr id="49" name="Shape 47"/>
          <p:cNvSpPr/>
          <p:nvPr/>
        </p:nvSpPr>
        <p:spPr>
          <a:xfrm>
            <a:off x="4709160" y="2916936"/>
            <a:ext cx="4206240" cy="621792"/>
          </a:xfrm>
          <a:prstGeom prst="rect">
            <a:avLst/>
          </a:prstGeom>
          <a:solidFill>
            <a:srgbClr val="1B3A5C"/>
          </a:solidFill>
          <a:ln/>
        </p:spPr>
      </p:sp>
      <p:sp>
        <p:nvSpPr>
          <p:cNvPr id="50" name="Shape 48"/>
          <p:cNvSpPr/>
          <p:nvPr/>
        </p:nvSpPr>
        <p:spPr>
          <a:xfrm>
            <a:off x="4709160" y="2916936"/>
            <a:ext cx="73152" cy="621792"/>
          </a:xfrm>
          <a:prstGeom prst="rect">
            <a:avLst/>
          </a:prstGeom>
          <a:solidFill>
            <a:srgbClr val="3498DB"/>
          </a:solidFill>
          <a:ln w="12700">
            <a:solidFill>
              <a:srgbClr val="3498DB"/>
            </a:solidFill>
            <a:prstDash val="solid"/>
          </a:ln>
        </p:spPr>
      </p:sp>
      <p:sp>
        <p:nvSpPr>
          <p:cNvPr id="51" name="Text 49"/>
          <p:cNvSpPr/>
          <p:nvPr/>
        </p:nvSpPr>
        <p:spPr>
          <a:xfrm>
            <a:off x="4846320" y="2953512"/>
            <a:ext cx="1463040" cy="256032"/>
          </a:xfrm>
          <a:prstGeom prst="rect">
            <a:avLst/>
          </a:prstGeom>
          <a:noFill/>
          <a:ln/>
        </p:spPr>
        <p:txBody>
          <a:bodyPr wrap="square" lIns="0" tIns="0" rIns="0" bIns="0" rtlCol="0" anchor="ctr"/>
          <a:lstStyle/>
          <a:p>
            <a:pPr marL="0" indent="0">
              <a:buNone/>
            </a:pPr>
            <a:r>
              <a:rPr lang="en-US" sz="1300" b="1" dirty="0">
                <a:solidFill>
                  <a:srgbClr val="3498DB"/>
                </a:solidFill>
                <a:latin typeface="Calibri" pitchFamily="34" charset="0"/>
                <a:ea typeface="Calibri" pitchFamily="34" charset="-122"/>
                <a:cs typeface="Calibri" pitchFamily="34" charset="-120"/>
              </a:rPr>
              <a:t>tidyr</a:t>
            </a:r>
            <a:endParaRPr lang="en-US" sz="1300" dirty="0"/>
          </a:p>
        </p:txBody>
      </p:sp>
      <p:sp>
        <p:nvSpPr>
          <p:cNvPr id="52" name="Text 50"/>
          <p:cNvSpPr/>
          <p:nvPr/>
        </p:nvSpPr>
        <p:spPr>
          <a:xfrm>
            <a:off x="6355080" y="2971800"/>
            <a:ext cx="731520" cy="201168"/>
          </a:xfrm>
          <a:prstGeom prst="rect">
            <a:avLst/>
          </a:prstGeom>
          <a:noFill/>
          <a:ln/>
        </p:spPr>
        <p:txBody>
          <a:bodyPr wrap="square" lIns="0" tIns="0" rIns="0" bIns="0" rtlCol="0" anchor="ctr"/>
          <a:lstStyle/>
          <a:p>
            <a:pPr marL="0" indent="0">
              <a:buNone/>
            </a:pPr>
            <a:r>
              <a:rPr lang="en-US" sz="900" i="1" dirty="0">
                <a:solidFill>
                  <a:srgbClr val="F39C12"/>
                </a:solidFill>
                <a:latin typeface="Calibri" pitchFamily="34" charset="0"/>
                <a:ea typeface="Calibri" pitchFamily="34" charset="-122"/>
                <a:cs typeface="Calibri" pitchFamily="34" charset="-120"/>
              </a:rPr>
              <a:t>CRAN</a:t>
            </a:r>
            <a:endParaRPr lang="en-US" sz="900" dirty="0"/>
          </a:p>
        </p:txBody>
      </p:sp>
      <p:sp>
        <p:nvSpPr>
          <p:cNvPr id="53" name="Text 51"/>
          <p:cNvSpPr/>
          <p:nvPr/>
        </p:nvSpPr>
        <p:spPr>
          <a:xfrm>
            <a:off x="4846320" y="3218688"/>
            <a:ext cx="3977640" cy="274320"/>
          </a:xfrm>
          <a:prstGeom prst="rect">
            <a:avLst/>
          </a:prstGeom>
          <a:noFill/>
          <a:ln/>
        </p:spPr>
        <p:txBody>
          <a:bodyPr wrap="square" lIns="0" tIns="0" rIns="0" bIns="0" rtlCol="0" anchor="ctr"/>
          <a:lstStyle/>
          <a:p>
            <a:pPr marL="0" indent="0">
              <a:buNone/>
            </a:pPr>
            <a:r>
              <a:rPr lang="en-US" sz="950" dirty="0">
                <a:solidFill>
                  <a:srgbClr val="ECF0F1"/>
                </a:solidFill>
                <a:latin typeface="Calibri" pitchFamily="34" charset="0"/>
                <a:ea typeface="Calibri" pitchFamily="34" charset="-122"/>
                <a:cs typeface="Calibri" pitchFamily="34" charset="-120"/>
              </a:rPr>
              <a:t>Tidy data transformations — tribble() for inline data creation</a:t>
            </a:r>
            <a:endParaRPr lang="en-US" sz="950" dirty="0"/>
          </a:p>
        </p:txBody>
      </p:sp>
      <p:sp>
        <p:nvSpPr>
          <p:cNvPr id="54" name="Shape 52"/>
          <p:cNvSpPr/>
          <p:nvPr/>
        </p:nvSpPr>
        <p:spPr>
          <a:xfrm>
            <a:off x="4709160" y="3621024"/>
            <a:ext cx="4206240" cy="621792"/>
          </a:xfrm>
          <a:prstGeom prst="rect">
            <a:avLst/>
          </a:prstGeom>
          <a:solidFill>
            <a:srgbClr val="1B3A5C"/>
          </a:solidFill>
          <a:ln/>
        </p:spPr>
      </p:sp>
      <p:sp>
        <p:nvSpPr>
          <p:cNvPr id="55" name="Shape 53"/>
          <p:cNvSpPr/>
          <p:nvPr/>
        </p:nvSpPr>
        <p:spPr>
          <a:xfrm>
            <a:off x="4709160" y="3621024"/>
            <a:ext cx="73152" cy="621792"/>
          </a:xfrm>
          <a:prstGeom prst="rect">
            <a:avLst/>
          </a:prstGeom>
          <a:solidFill>
            <a:srgbClr val="3498DB"/>
          </a:solidFill>
          <a:ln w="12700">
            <a:solidFill>
              <a:srgbClr val="3498DB"/>
            </a:solidFill>
            <a:prstDash val="solid"/>
          </a:ln>
        </p:spPr>
      </p:sp>
      <p:sp>
        <p:nvSpPr>
          <p:cNvPr id="56" name="Text 54"/>
          <p:cNvSpPr/>
          <p:nvPr/>
        </p:nvSpPr>
        <p:spPr>
          <a:xfrm>
            <a:off x="4846320" y="3657600"/>
            <a:ext cx="1463040" cy="256032"/>
          </a:xfrm>
          <a:prstGeom prst="rect">
            <a:avLst/>
          </a:prstGeom>
          <a:noFill/>
          <a:ln/>
        </p:spPr>
        <p:txBody>
          <a:bodyPr wrap="square" lIns="0" tIns="0" rIns="0" bIns="0" rtlCol="0" anchor="ctr"/>
          <a:lstStyle/>
          <a:p>
            <a:pPr marL="0" indent="0">
              <a:buNone/>
            </a:pPr>
            <a:r>
              <a:rPr lang="en-US" sz="1300" b="1" dirty="0">
                <a:solidFill>
                  <a:srgbClr val="3498DB"/>
                </a:solidFill>
                <a:latin typeface="Calibri" pitchFamily="34" charset="0"/>
                <a:ea typeface="Calibri" pitchFamily="34" charset="-122"/>
                <a:cs typeface="Calibri" pitchFamily="34" charset="-120"/>
              </a:rPr>
              <a:t>mapview</a:t>
            </a:r>
            <a:endParaRPr lang="en-US" sz="1300" dirty="0"/>
          </a:p>
        </p:txBody>
      </p:sp>
      <p:sp>
        <p:nvSpPr>
          <p:cNvPr id="57" name="Text 55"/>
          <p:cNvSpPr/>
          <p:nvPr/>
        </p:nvSpPr>
        <p:spPr>
          <a:xfrm>
            <a:off x="6355080" y="3675888"/>
            <a:ext cx="731520" cy="201168"/>
          </a:xfrm>
          <a:prstGeom prst="rect">
            <a:avLst/>
          </a:prstGeom>
          <a:noFill/>
          <a:ln/>
        </p:spPr>
        <p:txBody>
          <a:bodyPr wrap="square" lIns="0" tIns="0" rIns="0" bIns="0" rtlCol="0" anchor="ctr"/>
          <a:lstStyle/>
          <a:p>
            <a:pPr marL="0" indent="0">
              <a:buNone/>
            </a:pPr>
            <a:r>
              <a:rPr lang="en-US" sz="900" i="1" dirty="0">
                <a:solidFill>
                  <a:srgbClr val="F39C12"/>
                </a:solidFill>
                <a:latin typeface="Calibri" pitchFamily="34" charset="0"/>
                <a:ea typeface="Calibri" pitchFamily="34" charset="-122"/>
                <a:cs typeface="Calibri" pitchFamily="34" charset="-120"/>
              </a:rPr>
              <a:t>CRAN</a:t>
            </a:r>
            <a:endParaRPr lang="en-US" sz="900" dirty="0"/>
          </a:p>
        </p:txBody>
      </p:sp>
      <p:sp>
        <p:nvSpPr>
          <p:cNvPr id="58" name="Text 56"/>
          <p:cNvSpPr/>
          <p:nvPr/>
        </p:nvSpPr>
        <p:spPr>
          <a:xfrm>
            <a:off x="4846320" y="3922776"/>
            <a:ext cx="3977640" cy="274320"/>
          </a:xfrm>
          <a:prstGeom prst="rect">
            <a:avLst/>
          </a:prstGeom>
          <a:noFill/>
          <a:ln/>
        </p:spPr>
        <p:txBody>
          <a:bodyPr wrap="square" lIns="0" tIns="0" rIns="0" bIns="0" rtlCol="0" anchor="ctr"/>
          <a:lstStyle/>
          <a:p>
            <a:pPr marL="0" indent="0">
              <a:buNone/>
            </a:pPr>
            <a:r>
              <a:rPr lang="en-US" sz="950" dirty="0">
                <a:solidFill>
                  <a:srgbClr val="ECF0F1"/>
                </a:solidFill>
                <a:latin typeface="Calibri" pitchFamily="34" charset="0"/>
                <a:ea typeface="Calibri" pitchFamily="34" charset="-122"/>
                <a:cs typeface="Calibri" pitchFamily="34" charset="-120"/>
              </a:rPr>
              <a:t>Export Leaflet map screenshots to PNG via mapshot()</a:t>
            </a:r>
            <a:endParaRPr lang="en-US" sz="950" dirty="0"/>
          </a:p>
        </p:txBody>
      </p:sp>
      <p:sp>
        <p:nvSpPr>
          <p:cNvPr id="59" name="Shape 57"/>
          <p:cNvSpPr/>
          <p:nvPr/>
        </p:nvSpPr>
        <p:spPr>
          <a:xfrm>
            <a:off x="4709160" y="4325112"/>
            <a:ext cx="4206240" cy="621792"/>
          </a:xfrm>
          <a:prstGeom prst="rect">
            <a:avLst/>
          </a:prstGeom>
          <a:solidFill>
            <a:srgbClr val="1B3A5C"/>
          </a:solidFill>
          <a:ln/>
        </p:spPr>
      </p:sp>
      <p:sp>
        <p:nvSpPr>
          <p:cNvPr id="60" name="Shape 58"/>
          <p:cNvSpPr/>
          <p:nvPr/>
        </p:nvSpPr>
        <p:spPr>
          <a:xfrm>
            <a:off x="4709160" y="4325112"/>
            <a:ext cx="73152" cy="621792"/>
          </a:xfrm>
          <a:prstGeom prst="rect">
            <a:avLst/>
          </a:prstGeom>
          <a:solidFill>
            <a:srgbClr val="3498DB"/>
          </a:solidFill>
          <a:ln w="12700">
            <a:solidFill>
              <a:srgbClr val="3498DB"/>
            </a:solidFill>
            <a:prstDash val="solid"/>
          </a:ln>
        </p:spPr>
      </p:sp>
      <p:sp>
        <p:nvSpPr>
          <p:cNvPr id="61" name="Text 59"/>
          <p:cNvSpPr/>
          <p:nvPr/>
        </p:nvSpPr>
        <p:spPr>
          <a:xfrm>
            <a:off x="4846320" y="4361688"/>
            <a:ext cx="1463040" cy="256032"/>
          </a:xfrm>
          <a:prstGeom prst="rect">
            <a:avLst/>
          </a:prstGeom>
          <a:noFill/>
          <a:ln/>
        </p:spPr>
        <p:txBody>
          <a:bodyPr wrap="square" lIns="0" tIns="0" rIns="0" bIns="0" rtlCol="0" anchor="ctr"/>
          <a:lstStyle/>
          <a:p>
            <a:pPr marL="0" indent="0">
              <a:buNone/>
            </a:pPr>
            <a:r>
              <a:rPr lang="en-US" sz="1300" b="1" dirty="0">
                <a:solidFill>
                  <a:srgbClr val="3498DB"/>
                </a:solidFill>
                <a:latin typeface="Calibri" pitchFamily="34" charset="0"/>
                <a:ea typeface="Calibri" pitchFamily="34" charset="-122"/>
                <a:cs typeface="Calibri" pitchFamily="34" charset="-120"/>
              </a:rPr>
              <a:t>RColorBrewer</a:t>
            </a:r>
            <a:endParaRPr lang="en-US" sz="1300" dirty="0"/>
          </a:p>
        </p:txBody>
      </p:sp>
      <p:sp>
        <p:nvSpPr>
          <p:cNvPr id="62" name="Text 60"/>
          <p:cNvSpPr/>
          <p:nvPr/>
        </p:nvSpPr>
        <p:spPr>
          <a:xfrm>
            <a:off x="6355080" y="4379976"/>
            <a:ext cx="731520" cy="201168"/>
          </a:xfrm>
          <a:prstGeom prst="rect">
            <a:avLst/>
          </a:prstGeom>
          <a:noFill/>
          <a:ln/>
        </p:spPr>
        <p:txBody>
          <a:bodyPr wrap="square" lIns="0" tIns="0" rIns="0" bIns="0" rtlCol="0" anchor="ctr"/>
          <a:lstStyle/>
          <a:p>
            <a:pPr marL="0" indent="0">
              <a:buNone/>
            </a:pPr>
            <a:r>
              <a:rPr lang="en-US" sz="900" i="1" dirty="0">
                <a:solidFill>
                  <a:srgbClr val="F39C12"/>
                </a:solidFill>
                <a:latin typeface="Calibri" pitchFamily="34" charset="0"/>
                <a:ea typeface="Calibri" pitchFamily="34" charset="-122"/>
                <a:cs typeface="Calibri" pitchFamily="34" charset="-120"/>
              </a:rPr>
              <a:t>CRAN</a:t>
            </a:r>
            <a:endParaRPr lang="en-US" sz="900" dirty="0"/>
          </a:p>
        </p:txBody>
      </p:sp>
      <p:sp>
        <p:nvSpPr>
          <p:cNvPr id="63" name="Text 61"/>
          <p:cNvSpPr/>
          <p:nvPr/>
        </p:nvSpPr>
        <p:spPr>
          <a:xfrm>
            <a:off x="4846320" y="4626864"/>
            <a:ext cx="3977640" cy="274320"/>
          </a:xfrm>
          <a:prstGeom prst="rect">
            <a:avLst/>
          </a:prstGeom>
          <a:noFill/>
          <a:ln/>
        </p:spPr>
        <p:txBody>
          <a:bodyPr wrap="square" lIns="0" tIns="0" rIns="0" bIns="0" rtlCol="0" anchor="ctr"/>
          <a:lstStyle/>
          <a:p>
            <a:pPr marL="0" indent="0">
              <a:buNone/>
            </a:pPr>
            <a:r>
              <a:rPr lang="en-US" sz="950" dirty="0">
                <a:solidFill>
                  <a:srgbClr val="ECF0F1"/>
                </a:solidFill>
                <a:latin typeface="Calibri" pitchFamily="34" charset="0"/>
                <a:ea typeface="Calibri" pitchFamily="34" charset="-122"/>
                <a:cs typeface="Calibri" pitchFamily="34" charset="-120"/>
              </a:rPr>
              <a:t>Color palettes — Set1 palette for 7 agricultural region categories</a:t>
            </a:r>
            <a:endParaRPr lang="en-US" sz="950" dirty="0"/>
          </a:p>
        </p:txBody>
      </p:sp>
      <p:sp>
        <p:nvSpPr>
          <p:cNvPr id="64" name="Text 62"/>
          <p:cNvSpPr/>
          <p:nvPr/>
        </p:nvSpPr>
        <p:spPr>
          <a:xfrm>
            <a:off x="365760" y="4828032"/>
            <a:ext cx="8412480" cy="228600"/>
          </a:xfrm>
          <a:prstGeom prst="rect">
            <a:avLst/>
          </a:prstGeom>
          <a:noFill/>
          <a:ln/>
        </p:spPr>
        <p:txBody>
          <a:bodyPr wrap="square" rtlCol="0" anchor="ctr"/>
          <a:lstStyle/>
          <a:p>
            <a:pPr marL="0" indent="0" algn="ctr">
              <a:buNone/>
            </a:pPr>
            <a:r>
              <a:rPr lang="en-US" sz="900" i="1" dirty="0">
                <a:solidFill>
                  <a:srgbClr val="95A5A6"/>
                </a:solidFill>
                <a:latin typeface="Calibri" pitchFamily="34" charset="0"/>
                <a:ea typeface="Calibri" pitchFamily="34" charset="-122"/>
                <a:cs typeface="Calibri" pitchFamily="34" charset="-120"/>
              </a:rPr>
              <a:t>All packages installed via: install.packages() from CRAN  |  R version ≥ 4.2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09728"/>
            <a:ext cx="8412480" cy="54864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Project Data Sources</a:t>
            </a:r>
            <a:endParaRPr lang="en-US" sz="3000" dirty="0"/>
          </a:p>
        </p:txBody>
      </p:sp>
      <p:sp>
        <p:nvSpPr>
          <p:cNvPr id="3" name="Shape 1"/>
          <p:cNvSpPr/>
          <p:nvPr/>
        </p:nvSpPr>
        <p:spPr>
          <a:xfrm>
            <a:off x="365760" y="658368"/>
            <a:ext cx="3657600" cy="36576"/>
          </a:xfrm>
          <a:prstGeom prst="rect">
            <a:avLst/>
          </a:prstGeom>
          <a:solidFill>
            <a:srgbClr val="F39C12"/>
          </a:solidFill>
          <a:ln w="12700">
            <a:solidFill>
              <a:srgbClr val="F39C12"/>
            </a:solidFill>
            <a:prstDash val="solid"/>
          </a:ln>
        </p:spPr>
      </p:sp>
      <p:sp>
        <p:nvSpPr>
          <p:cNvPr id="4" name="Shape 2"/>
          <p:cNvSpPr/>
          <p:nvPr/>
        </p:nvSpPr>
        <p:spPr>
          <a:xfrm>
            <a:off x="274320" y="822960"/>
            <a:ext cx="4206240" cy="1920240"/>
          </a:xfrm>
          <a:prstGeom prst="rect">
            <a:avLst/>
          </a:prstGeom>
          <a:solidFill>
            <a:srgbClr val="1B3A5C"/>
          </a:solidFill>
          <a:ln/>
        </p:spPr>
      </p:sp>
      <p:sp>
        <p:nvSpPr>
          <p:cNvPr id="5" name="Shape 3"/>
          <p:cNvSpPr/>
          <p:nvPr/>
        </p:nvSpPr>
        <p:spPr>
          <a:xfrm>
            <a:off x="274320" y="822960"/>
            <a:ext cx="73152" cy="1920240"/>
          </a:xfrm>
          <a:prstGeom prst="rect">
            <a:avLst/>
          </a:prstGeom>
          <a:solidFill>
            <a:srgbClr val="2ECC71"/>
          </a:solidFill>
          <a:ln w="12700">
            <a:solidFill>
              <a:srgbClr val="2ECC71"/>
            </a:solidFill>
            <a:prstDash val="solid"/>
          </a:ln>
        </p:spPr>
      </p:sp>
      <p:sp>
        <p:nvSpPr>
          <p:cNvPr id="7" name="Text 4"/>
          <p:cNvSpPr/>
          <p:nvPr/>
        </p:nvSpPr>
        <p:spPr>
          <a:xfrm>
            <a:off x="868680" y="877824"/>
            <a:ext cx="352044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GADM — Global Administrative Areas</a:t>
            </a:r>
            <a:endParaRPr lang="en-US" sz="1200" dirty="0"/>
          </a:p>
        </p:txBody>
      </p:sp>
      <p:sp>
        <p:nvSpPr>
          <p:cNvPr id="8" name="Text 5"/>
          <p:cNvSpPr/>
          <p:nvPr/>
        </p:nvSpPr>
        <p:spPr>
          <a:xfrm>
            <a:off x="411480" y="1316736"/>
            <a:ext cx="3977640" cy="201168"/>
          </a:xfrm>
          <a:prstGeom prst="rect">
            <a:avLst/>
          </a:prstGeom>
          <a:noFill/>
          <a:ln/>
        </p:spPr>
        <p:txBody>
          <a:bodyPr wrap="square" lIns="0" tIns="0" rIns="0" bIns="0" rtlCol="0" anchor="ctr"/>
          <a:lstStyle/>
          <a:p>
            <a:pPr marL="0" indent="0">
              <a:buNone/>
            </a:pPr>
            <a:r>
              <a:rPr lang="en-US" sz="900" i="1" dirty="0">
                <a:solidFill>
                  <a:srgbClr val="2ECC71"/>
                </a:solidFill>
                <a:latin typeface="Calibri" pitchFamily="34" charset="0"/>
                <a:ea typeface="Calibri" pitchFamily="34" charset="-122"/>
                <a:cs typeface="Calibri" pitchFamily="34" charset="-120"/>
              </a:rPr>
              <a:t>gadm.org / R: geodata::gadm()</a:t>
            </a:r>
            <a:endParaRPr lang="en-US" sz="900" dirty="0"/>
          </a:p>
        </p:txBody>
      </p:sp>
      <p:sp>
        <p:nvSpPr>
          <p:cNvPr id="9" name="Text 6"/>
          <p:cNvSpPr/>
          <p:nvPr/>
        </p:nvSpPr>
        <p:spPr>
          <a:xfrm>
            <a:off x="457200" y="1536192"/>
            <a:ext cx="3886200" cy="256032"/>
          </a:xfrm>
          <a:prstGeom prst="rect">
            <a:avLst/>
          </a:prstGeom>
          <a:noFill/>
          <a:ln/>
        </p:spPr>
        <p:txBody>
          <a:bodyPr wrap="square" lIns="0" tIns="0" rIns="0" bIns="0" rtlCol="0" anchor="ctr"/>
          <a:lstStyle/>
          <a:p>
            <a:pPr marL="0" indent="0">
              <a:buNone/>
            </a:pPr>
            <a:r>
              <a:rPr lang="en-US" sz="950" dirty="0">
                <a:solidFill>
                  <a:srgbClr val="ECF0F1"/>
                </a:solidFill>
                <a:latin typeface="Calibri" pitchFamily="34" charset="0"/>
                <a:ea typeface="Calibri" pitchFamily="34" charset="-122"/>
                <a:cs typeface="Calibri" pitchFamily="34" charset="-120"/>
              </a:rPr>
              <a:t>• Egypt Level-1 shapefile (27 governorates)</a:t>
            </a:r>
            <a:endParaRPr lang="en-US" sz="950" dirty="0"/>
          </a:p>
        </p:txBody>
      </p:sp>
      <p:sp>
        <p:nvSpPr>
          <p:cNvPr id="10" name="Text 7"/>
          <p:cNvSpPr/>
          <p:nvPr/>
        </p:nvSpPr>
        <p:spPr>
          <a:xfrm>
            <a:off x="457200" y="1819656"/>
            <a:ext cx="3886200" cy="256032"/>
          </a:xfrm>
          <a:prstGeom prst="rect">
            <a:avLst/>
          </a:prstGeom>
          <a:noFill/>
          <a:ln/>
        </p:spPr>
        <p:txBody>
          <a:bodyPr wrap="square" lIns="0" tIns="0" rIns="0" bIns="0" rtlCol="0" anchor="ctr"/>
          <a:lstStyle/>
          <a:p>
            <a:pPr marL="0" indent="0">
              <a:buNone/>
            </a:pPr>
            <a:r>
              <a:rPr lang="en-US" sz="950" dirty="0">
                <a:solidFill>
                  <a:srgbClr val="ECF0F1"/>
                </a:solidFill>
                <a:latin typeface="Calibri" pitchFamily="34" charset="0"/>
                <a:ea typeface="Calibri" pitchFamily="34" charset="-122"/>
                <a:cs typeface="Calibri" pitchFamily="34" charset="-120"/>
              </a:rPr>
              <a:t>• Downloaded via geodata::gadm('EGY', level = 1)</a:t>
            </a:r>
            <a:endParaRPr lang="en-US" sz="950" dirty="0"/>
          </a:p>
        </p:txBody>
      </p:sp>
      <p:sp>
        <p:nvSpPr>
          <p:cNvPr id="11" name="Text 8"/>
          <p:cNvSpPr/>
          <p:nvPr/>
        </p:nvSpPr>
        <p:spPr>
          <a:xfrm>
            <a:off x="457200" y="2103120"/>
            <a:ext cx="3886200" cy="256032"/>
          </a:xfrm>
          <a:prstGeom prst="rect">
            <a:avLst/>
          </a:prstGeom>
          <a:noFill/>
          <a:ln/>
        </p:spPr>
        <p:txBody>
          <a:bodyPr wrap="square" lIns="0" tIns="0" rIns="0" bIns="0" rtlCol="0" anchor="ctr"/>
          <a:lstStyle/>
          <a:p>
            <a:pPr marL="0" indent="0">
              <a:buNone/>
            </a:pPr>
            <a:r>
              <a:rPr lang="en-US" sz="950" dirty="0">
                <a:solidFill>
                  <a:srgbClr val="ECF0F1"/>
                </a:solidFill>
                <a:latin typeface="Calibri" pitchFamily="34" charset="0"/>
                <a:ea typeface="Calibri" pitchFamily="34" charset="-122"/>
                <a:cs typeface="Calibri" pitchFamily="34" charset="-120"/>
              </a:rPr>
              <a:t>• Coordinate Reference System: WGS84 (EPSG:4326)</a:t>
            </a:r>
            <a:endParaRPr lang="en-US" sz="950" dirty="0"/>
          </a:p>
        </p:txBody>
      </p:sp>
      <p:sp>
        <p:nvSpPr>
          <p:cNvPr id="12" name="Text 9"/>
          <p:cNvSpPr/>
          <p:nvPr/>
        </p:nvSpPr>
        <p:spPr>
          <a:xfrm>
            <a:off x="457200" y="2386584"/>
            <a:ext cx="3886200" cy="256032"/>
          </a:xfrm>
          <a:prstGeom prst="rect">
            <a:avLst/>
          </a:prstGeom>
          <a:noFill/>
          <a:ln/>
        </p:spPr>
        <p:txBody>
          <a:bodyPr wrap="square" lIns="0" tIns="0" rIns="0" bIns="0" rtlCol="0" anchor="ctr"/>
          <a:lstStyle/>
          <a:p>
            <a:pPr marL="0" indent="0">
              <a:buNone/>
            </a:pPr>
            <a:r>
              <a:rPr lang="en-US" sz="950" dirty="0">
                <a:solidFill>
                  <a:srgbClr val="ECF0F1"/>
                </a:solidFill>
                <a:latin typeface="Calibri" pitchFamily="34" charset="0"/>
                <a:ea typeface="Calibri" pitchFamily="34" charset="-122"/>
                <a:cs typeface="Calibri" pitchFamily="34" charset="-120"/>
              </a:rPr>
              <a:t>• Provides geometry boundaries for all choropleth maps</a:t>
            </a:r>
            <a:endParaRPr lang="en-US" sz="950" dirty="0"/>
          </a:p>
        </p:txBody>
      </p:sp>
      <p:sp>
        <p:nvSpPr>
          <p:cNvPr id="13" name="Shape 10"/>
          <p:cNvSpPr/>
          <p:nvPr/>
        </p:nvSpPr>
        <p:spPr>
          <a:xfrm>
            <a:off x="274320" y="2880360"/>
            <a:ext cx="4206240" cy="1920240"/>
          </a:xfrm>
          <a:prstGeom prst="rect">
            <a:avLst/>
          </a:prstGeom>
          <a:solidFill>
            <a:srgbClr val="1B3A5C"/>
          </a:solidFill>
          <a:ln/>
        </p:spPr>
      </p:sp>
      <p:sp>
        <p:nvSpPr>
          <p:cNvPr id="14" name="Shape 11"/>
          <p:cNvSpPr/>
          <p:nvPr/>
        </p:nvSpPr>
        <p:spPr>
          <a:xfrm>
            <a:off x="274320" y="2880360"/>
            <a:ext cx="73152" cy="1920240"/>
          </a:xfrm>
          <a:prstGeom prst="rect">
            <a:avLst/>
          </a:prstGeom>
          <a:solidFill>
            <a:srgbClr val="3498DB"/>
          </a:solidFill>
          <a:ln w="12700">
            <a:solidFill>
              <a:srgbClr val="3498DB"/>
            </a:solidFill>
            <a:prstDash val="solid"/>
          </a:ln>
        </p:spPr>
      </p:sp>
      <p:sp>
        <p:nvSpPr>
          <p:cNvPr id="16" name="Text 12"/>
          <p:cNvSpPr/>
          <p:nvPr/>
        </p:nvSpPr>
        <p:spPr>
          <a:xfrm>
            <a:off x="868680" y="2935224"/>
            <a:ext cx="352044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CAPMAS — Central Agency for Statistics</a:t>
            </a:r>
            <a:endParaRPr lang="en-US" sz="1200" dirty="0"/>
          </a:p>
        </p:txBody>
      </p:sp>
      <p:sp>
        <p:nvSpPr>
          <p:cNvPr id="17" name="Text 13"/>
          <p:cNvSpPr/>
          <p:nvPr/>
        </p:nvSpPr>
        <p:spPr>
          <a:xfrm>
            <a:off x="411480" y="3374136"/>
            <a:ext cx="3977640" cy="201168"/>
          </a:xfrm>
          <a:prstGeom prst="rect">
            <a:avLst/>
          </a:prstGeom>
          <a:noFill/>
          <a:ln/>
        </p:spPr>
        <p:txBody>
          <a:bodyPr wrap="square" lIns="0" tIns="0" rIns="0" bIns="0" rtlCol="0" anchor="ctr"/>
          <a:lstStyle/>
          <a:p>
            <a:pPr marL="0" indent="0">
              <a:buNone/>
            </a:pPr>
            <a:r>
              <a:rPr lang="en-US" sz="900" i="1" dirty="0">
                <a:solidFill>
                  <a:srgbClr val="3498DB"/>
                </a:solidFill>
                <a:latin typeface="Calibri" pitchFamily="34" charset="0"/>
                <a:ea typeface="Calibri" pitchFamily="34" charset="-122"/>
                <a:cs typeface="Calibri" pitchFamily="34" charset="-120"/>
              </a:rPr>
              <a:t>capmas.gov.eg</a:t>
            </a:r>
            <a:endParaRPr lang="en-US" sz="900" dirty="0"/>
          </a:p>
        </p:txBody>
      </p:sp>
      <p:sp>
        <p:nvSpPr>
          <p:cNvPr id="18" name="Text 14"/>
          <p:cNvSpPr/>
          <p:nvPr/>
        </p:nvSpPr>
        <p:spPr>
          <a:xfrm>
            <a:off x="457200" y="3593592"/>
            <a:ext cx="3886200" cy="256032"/>
          </a:xfrm>
          <a:prstGeom prst="rect">
            <a:avLst/>
          </a:prstGeom>
          <a:noFill/>
          <a:ln/>
        </p:spPr>
        <p:txBody>
          <a:bodyPr wrap="square" lIns="0" tIns="0" rIns="0" bIns="0" rtlCol="0" anchor="ctr"/>
          <a:lstStyle/>
          <a:p>
            <a:pPr marL="0" indent="0">
              <a:buNone/>
            </a:pPr>
            <a:r>
              <a:rPr lang="en-US" sz="950" dirty="0">
                <a:solidFill>
                  <a:srgbClr val="ECF0F1"/>
                </a:solidFill>
                <a:latin typeface="Calibri" pitchFamily="34" charset="0"/>
                <a:ea typeface="Calibri" pitchFamily="34" charset="-122"/>
                <a:cs typeface="Calibri" pitchFamily="34" charset="-120"/>
              </a:rPr>
              <a:t>• Egypt agricultural census &amp; land use statistics</a:t>
            </a:r>
            <a:endParaRPr lang="en-US" sz="950" dirty="0"/>
          </a:p>
        </p:txBody>
      </p:sp>
      <p:sp>
        <p:nvSpPr>
          <p:cNvPr id="19" name="Text 15"/>
          <p:cNvSpPr/>
          <p:nvPr/>
        </p:nvSpPr>
        <p:spPr>
          <a:xfrm>
            <a:off x="457200" y="3877056"/>
            <a:ext cx="3886200" cy="256032"/>
          </a:xfrm>
          <a:prstGeom prst="rect">
            <a:avLst/>
          </a:prstGeom>
          <a:noFill/>
          <a:ln/>
        </p:spPr>
        <p:txBody>
          <a:bodyPr wrap="square" lIns="0" tIns="0" rIns="0" bIns="0" rtlCol="0" anchor="ctr"/>
          <a:lstStyle/>
          <a:p>
            <a:pPr marL="0" indent="0">
              <a:buNone/>
            </a:pPr>
            <a:r>
              <a:rPr lang="en-US" sz="950" dirty="0">
                <a:solidFill>
                  <a:srgbClr val="ECF0F1"/>
                </a:solidFill>
                <a:latin typeface="Calibri" pitchFamily="34" charset="0"/>
                <a:ea typeface="Calibri" pitchFamily="34" charset="-122"/>
                <a:cs typeface="Calibri" pitchFamily="34" charset="-120"/>
              </a:rPr>
              <a:t>• Primary, secondary &amp; tertiary crop data per governorate</a:t>
            </a:r>
            <a:endParaRPr lang="en-US" sz="950" dirty="0"/>
          </a:p>
        </p:txBody>
      </p:sp>
      <p:sp>
        <p:nvSpPr>
          <p:cNvPr id="20" name="Text 16"/>
          <p:cNvSpPr/>
          <p:nvPr/>
        </p:nvSpPr>
        <p:spPr>
          <a:xfrm>
            <a:off x="457200" y="4160520"/>
            <a:ext cx="3886200" cy="256032"/>
          </a:xfrm>
          <a:prstGeom prst="rect">
            <a:avLst/>
          </a:prstGeom>
          <a:noFill/>
          <a:ln/>
        </p:spPr>
        <p:txBody>
          <a:bodyPr wrap="square" lIns="0" tIns="0" rIns="0" bIns="0" rtlCol="0" anchor="ctr"/>
          <a:lstStyle/>
          <a:p>
            <a:pPr marL="0" indent="0">
              <a:buNone/>
            </a:pPr>
            <a:r>
              <a:rPr lang="en-US" sz="950" dirty="0">
                <a:solidFill>
                  <a:srgbClr val="ECF0F1"/>
                </a:solidFill>
                <a:latin typeface="Calibri" pitchFamily="34" charset="0"/>
                <a:ea typeface="Calibri" pitchFamily="34" charset="-122"/>
                <a:cs typeface="Calibri" pitchFamily="34" charset="-120"/>
              </a:rPr>
              <a:t>• Used as reference to build the crop_data tribble in R</a:t>
            </a:r>
            <a:endParaRPr lang="en-US" sz="950" dirty="0"/>
          </a:p>
        </p:txBody>
      </p:sp>
      <p:sp>
        <p:nvSpPr>
          <p:cNvPr id="21" name="Text 17"/>
          <p:cNvSpPr/>
          <p:nvPr/>
        </p:nvSpPr>
        <p:spPr>
          <a:xfrm>
            <a:off x="457200" y="4443984"/>
            <a:ext cx="3886200" cy="256032"/>
          </a:xfrm>
          <a:prstGeom prst="rect">
            <a:avLst/>
          </a:prstGeom>
          <a:noFill/>
          <a:ln/>
        </p:spPr>
        <p:txBody>
          <a:bodyPr wrap="square" lIns="0" tIns="0" rIns="0" bIns="0" rtlCol="0" anchor="ctr"/>
          <a:lstStyle/>
          <a:p>
            <a:pPr marL="0" indent="0">
              <a:buNone/>
            </a:pPr>
            <a:r>
              <a:rPr lang="en-US" sz="950" dirty="0">
                <a:solidFill>
                  <a:srgbClr val="ECF0F1"/>
                </a:solidFill>
                <a:latin typeface="Calibri" pitchFamily="34" charset="0"/>
                <a:ea typeface="Calibri" pitchFamily="34" charset="-122"/>
                <a:cs typeface="Calibri" pitchFamily="34" charset="-120"/>
              </a:rPr>
              <a:t>• Source for agricultural region classification logic</a:t>
            </a:r>
            <a:endParaRPr lang="en-US" sz="950" dirty="0"/>
          </a:p>
        </p:txBody>
      </p:sp>
      <p:sp>
        <p:nvSpPr>
          <p:cNvPr id="22" name="Shape 18"/>
          <p:cNvSpPr/>
          <p:nvPr/>
        </p:nvSpPr>
        <p:spPr>
          <a:xfrm>
            <a:off x="4709160" y="822960"/>
            <a:ext cx="4206240" cy="1920240"/>
          </a:xfrm>
          <a:prstGeom prst="rect">
            <a:avLst/>
          </a:prstGeom>
          <a:solidFill>
            <a:srgbClr val="1B3A5C"/>
          </a:solidFill>
          <a:ln/>
        </p:spPr>
      </p:sp>
      <p:sp>
        <p:nvSpPr>
          <p:cNvPr id="23" name="Shape 19"/>
          <p:cNvSpPr/>
          <p:nvPr/>
        </p:nvSpPr>
        <p:spPr>
          <a:xfrm>
            <a:off x="4709160" y="822960"/>
            <a:ext cx="73152" cy="1920240"/>
          </a:xfrm>
          <a:prstGeom prst="rect">
            <a:avLst/>
          </a:prstGeom>
          <a:solidFill>
            <a:srgbClr val="F39C12"/>
          </a:solidFill>
          <a:ln w="12700">
            <a:solidFill>
              <a:srgbClr val="F39C12"/>
            </a:solidFill>
            <a:prstDash val="solid"/>
          </a:ln>
        </p:spPr>
      </p:sp>
      <p:sp>
        <p:nvSpPr>
          <p:cNvPr id="25" name="Text 20"/>
          <p:cNvSpPr/>
          <p:nvPr/>
        </p:nvSpPr>
        <p:spPr>
          <a:xfrm>
            <a:off x="5303520" y="877824"/>
            <a:ext cx="352044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FAO Egypt — Food &amp; Agriculture Organization</a:t>
            </a:r>
            <a:endParaRPr lang="en-US" sz="1200" dirty="0"/>
          </a:p>
        </p:txBody>
      </p:sp>
      <p:sp>
        <p:nvSpPr>
          <p:cNvPr id="26" name="Text 21"/>
          <p:cNvSpPr/>
          <p:nvPr/>
        </p:nvSpPr>
        <p:spPr>
          <a:xfrm>
            <a:off x="4846320" y="1316736"/>
            <a:ext cx="3977640" cy="201168"/>
          </a:xfrm>
          <a:prstGeom prst="rect">
            <a:avLst/>
          </a:prstGeom>
          <a:noFill/>
          <a:ln/>
        </p:spPr>
        <p:txBody>
          <a:bodyPr wrap="square" lIns="0" tIns="0" rIns="0" bIns="0" rtlCol="0" anchor="ctr"/>
          <a:lstStyle/>
          <a:p>
            <a:pPr marL="0" indent="0">
              <a:buNone/>
            </a:pPr>
            <a:r>
              <a:rPr lang="en-US" sz="900" i="1" dirty="0">
                <a:solidFill>
                  <a:srgbClr val="F39C12"/>
                </a:solidFill>
                <a:latin typeface="Calibri" pitchFamily="34" charset="0"/>
                <a:ea typeface="Calibri" pitchFamily="34" charset="-122"/>
                <a:cs typeface="Calibri" pitchFamily="34" charset="-120"/>
              </a:rPr>
              <a:t>fao.org/egypt</a:t>
            </a:r>
            <a:endParaRPr lang="en-US" sz="900" dirty="0"/>
          </a:p>
        </p:txBody>
      </p:sp>
      <p:sp>
        <p:nvSpPr>
          <p:cNvPr id="27" name="Text 22"/>
          <p:cNvSpPr/>
          <p:nvPr/>
        </p:nvSpPr>
        <p:spPr>
          <a:xfrm>
            <a:off x="4892040" y="1536192"/>
            <a:ext cx="3886200" cy="256032"/>
          </a:xfrm>
          <a:prstGeom prst="rect">
            <a:avLst/>
          </a:prstGeom>
          <a:noFill/>
          <a:ln/>
        </p:spPr>
        <p:txBody>
          <a:bodyPr wrap="square" lIns="0" tIns="0" rIns="0" bIns="0" rtlCol="0" anchor="ctr"/>
          <a:lstStyle/>
          <a:p>
            <a:pPr marL="0" indent="0">
              <a:buNone/>
            </a:pPr>
            <a:r>
              <a:rPr lang="en-US" sz="950" dirty="0">
                <a:solidFill>
                  <a:srgbClr val="ECF0F1"/>
                </a:solidFill>
                <a:latin typeface="Calibri" pitchFamily="34" charset="0"/>
                <a:ea typeface="Calibri" pitchFamily="34" charset="-122"/>
                <a:cs typeface="Calibri" pitchFamily="34" charset="-120"/>
              </a:rPr>
              <a:t>• Crop suitability benchmarks per agro-climatic zone</a:t>
            </a:r>
            <a:endParaRPr lang="en-US" sz="950" dirty="0"/>
          </a:p>
        </p:txBody>
      </p:sp>
      <p:sp>
        <p:nvSpPr>
          <p:cNvPr id="28" name="Text 23"/>
          <p:cNvSpPr/>
          <p:nvPr/>
        </p:nvSpPr>
        <p:spPr>
          <a:xfrm>
            <a:off x="4892040" y="1819656"/>
            <a:ext cx="3886200" cy="256032"/>
          </a:xfrm>
          <a:prstGeom prst="rect">
            <a:avLst/>
          </a:prstGeom>
          <a:noFill/>
          <a:ln/>
        </p:spPr>
        <p:txBody>
          <a:bodyPr wrap="square" lIns="0" tIns="0" rIns="0" bIns="0" rtlCol="0" anchor="ctr"/>
          <a:lstStyle/>
          <a:p>
            <a:pPr marL="0" indent="0">
              <a:buNone/>
            </a:pPr>
            <a:r>
              <a:rPr lang="en-US" sz="950" dirty="0">
                <a:solidFill>
                  <a:srgbClr val="ECF0F1"/>
                </a:solidFill>
                <a:latin typeface="Calibri" pitchFamily="34" charset="0"/>
                <a:ea typeface="Calibri" pitchFamily="34" charset="-122"/>
                <a:cs typeface="Calibri" pitchFamily="34" charset="-120"/>
              </a:rPr>
              <a:t>• Water access and soil quality reference data</a:t>
            </a:r>
            <a:endParaRPr lang="en-US" sz="950" dirty="0"/>
          </a:p>
        </p:txBody>
      </p:sp>
      <p:sp>
        <p:nvSpPr>
          <p:cNvPr id="29" name="Text 24"/>
          <p:cNvSpPr/>
          <p:nvPr/>
        </p:nvSpPr>
        <p:spPr>
          <a:xfrm>
            <a:off x="4892040" y="2103120"/>
            <a:ext cx="3886200" cy="256032"/>
          </a:xfrm>
          <a:prstGeom prst="rect">
            <a:avLst/>
          </a:prstGeom>
          <a:noFill/>
          <a:ln/>
        </p:spPr>
        <p:txBody>
          <a:bodyPr wrap="square" lIns="0" tIns="0" rIns="0" bIns="0" rtlCol="0" anchor="ctr"/>
          <a:lstStyle/>
          <a:p>
            <a:pPr marL="0" indent="0">
              <a:buNone/>
            </a:pPr>
            <a:r>
              <a:rPr lang="en-US" sz="950" dirty="0">
                <a:solidFill>
                  <a:srgbClr val="ECF0F1"/>
                </a:solidFill>
                <a:latin typeface="Calibri" pitchFamily="34" charset="0"/>
                <a:ea typeface="Calibri" pitchFamily="34" charset="-122"/>
                <a:cs typeface="Calibri" pitchFamily="34" charset="-120"/>
              </a:rPr>
              <a:t>• Validated suitability score ranges (0–100 index)</a:t>
            </a:r>
            <a:endParaRPr lang="en-US" sz="950" dirty="0"/>
          </a:p>
        </p:txBody>
      </p:sp>
      <p:sp>
        <p:nvSpPr>
          <p:cNvPr id="30" name="Text 25"/>
          <p:cNvSpPr/>
          <p:nvPr/>
        </p:nvSpPr>
        <p:spPr>
          <a:xfrm>
            <a:off x="4892040" y="2386584"/>
            <a:ext cx="3886200" cy="256032"/>
          </a:xfrm>
          <a:prstGeom prst="rect">
            <a:avLst/>
          </a:prstGeom>
          <a:noFill/>
          <a:ln/>
        </p:spPr>
        <p:txBody>
          <a:bodyPr wrap="square" lIns="0" tIns="0" rIns="0" bIns="0" rtlCol="0" anchor="ctr"/>
          <a:lstStyle/>
          <a:p>
            <a:pPr marL="0" indent="0">
              <a:buNone/>
            </a:pPr>
            <a:r>
              <a:rPr lang="en-US" sz="950" dirty="0">
                <a:solidFill>
                  <a:srgbClr val="ECF0F1"/>
                </a:solidFill>
                <a:latin typeface="Calibri" pitchFamily="34" charset="0"/>
                <a:ea typeface="Calibri" pitchFamily="34" charset="-122"/>
                <a:cs typeface="Calibri" pitchFamily="34" charset="-120"/>
              </a:rPr>
              <a:t>• Referenced for Upper Egypt &amp; Delta region benchmarks</a:t>
            </a:r>
            <a:endParaRPr lang="en-US" sz="950" dirty="0"/>
          </a:p>
        </p:txBody>
      </p:sp>
      <p:sp>
        <p:nvSpPr>
          <p:cNvPr id="31" name="Shape 26"/>
          <p:cNvSpPr/>
          <p:nvPr/>
        </p:nvSpPr>
        <p:spPr>
          <a:xfrm>
            <a:off x="4709160" y="2880360"/>
            <a:ext cx="4206240" cy="1920240"/>
          </a:xfrm>
          <a:prstGeom prst="rect">
            <a:avLst/>
          </a:prstGeom>
          <a:solidFill>
            <a:srgbClr val="1B3A5C"/>
          </a:solidFill>
          <a:ln/>
        </p:spPr>
      </p:sp>
      <p:sp>
        <p:nvSpPr>
          <p:cNvPr id="32" name="Shape 27"/>
          <p:cNvSpPr/>
          <p:nvPr/>
        </p:nvSpPr>
        <p:spPr>
          <a:xfrm>
            <a:off x="4709160" y="2880360"/>
            <a:ext cx="73152" cy="1920240"/>
          </a:xfrm>
          <a:prstGeom prst="rect">
            <a:avLst/>
          </a:prstGeom>
          <a:solidFill>
            <a:srgbClr val="E74C3C"/>
          </a:solidFill>
          <a:ln w="12700">
            <a:solidFill>
              <a:srgbClr val="E74C3C"/>
            </a:solidFill>
            <a:prstDash val="solid"/>
          </a:ln>
        </p:spPr>
      </p:sp>
      <p:sp>
        <p:nvSpPr>
          <p:cNvPr id="34" name="Text 28"/>
          <p:cNvSpPr/>
          <p:nvPr/>
        </p:nvSpPr>
        <p:spPr>
          <a:xfrm>
            <a:off x="5303520" y="2935224"/>
            <a:ext cx="352044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OpenStreetMap / CartoDB Voyager</a:t>
            </a:r>
            <a:endParaRPr lang="en-US" sz="1200" dirty="0"/>
          </a:p>
        </p:txBody>
      </p:sp>
      <p:sp>
        <p:nvSpPr>
          <p:cNvPr id="35" name="Text 29"/>
          <p:cNvSpPr/>
          <p:nvPr/>
        </p:nvSpPr>
        <p:spPr>
          <a:xfrm>
            <a:off x="4846320" y="3374136"/>
            <a:ext cx="3977640" cy="201168"/>
          </a:xfrm>
          <a:prstGeom prst="rect">
            <a:avLst/>
          </a:prstGeom>
          <a:noFill/>
          <a:ln/>
        </p:spPr>
        <p:txBody>
          <a:bodyPr wrap="square" lIns="0" tIns="0" rIns="0" bIns="0" rtlCol="0" anchor="ctr"/>
          <a:lstStyle/>
          <a:p>
            <a:pPr marL="0" indent="0">
              <a:buNone/>
            </a:pPr>
            <a:r>
              <a:rPr lang="en-US" sz="900" i="1" dirty="0">
                <a:solidFill>
                  <a:srgbClr val="E74C3C"/>
                </a:solidFill>
                <a:latin typeface="Calibri" pitchFamily="34" charset="0"/>
                <a:ea typeface="Calibri" pitchFamily="34" charset="-122"/>
                <a:cs typeface="Calibri" pitchFamily="34" charset="-120"/>
              </a:rPr>
              <a:t>leaflet addProviderTiles(providers$CartoDB.Voyager)</a:t>
            </a:r>
            <a:endParaRPr lang="en-US" sz="900" dirty="0"/>
          </a:p>
        </p:txBody>
      </p:sp>
      <p:sp>
        <p:nvSpPr>
          <p:cNvPr id="36" name="Text 30"/>
          <p:cNvSpPr/>
          <p:nvPr/>
        </p:nvSpPr>
        <p:spPr>
          <a:xfrm>
            <a:off x="4892040" y="3593592"/>
            <a:ext cx="3886200" cy="256032"/>
          </a:xfrm>
          <a:prstGeom prst="rect">
            <a:avLst/>
          </a:prstGeom>
          <a:noFill/>
          <a:ln/>
        </p:spPr>
        <p:txBody>
          <a:bodyPr wrap="square" lIns="0" tIns="0" rIns="0" bIns="0" rtlCol="0" anchor="ctr"/>
          <a:lstStyle/>
          <a:p>
            <a:pPr marL="0" indent="0">
              <a:buNone/>
            </a:pPr>
            <a:r>
              <a:rPr lang="en-US" sz="950" dirty="0">
                <a:solidFill>
                  <a:srgbClr val="ECF0F1"/>
                </a:solidFill>
                <a:latin typeface="Calibri" pitchFamily="34" charset="0"/>
                <a:ea typeface="Calibri" pitchFamily="34" charset="-122"/>
                <a:cs typeface="Calibri" pitchFamily="34" charset="-120"/>
              </a:rPr>
              <a:t>• Base tile layer for interactive Leaflet maps</a:t>
            </a:r>
            <a:endParaRPr lang="en-US" sz="950" dirty="0"/>
          </a:p>
        </p:txBody>
      </p:sp>
      <p:sp>
        <p:nvSpPr>
          <p:cNvPr id="37" name="Text 31"/>
          <p:cNvSpPr/>
          <p:nvPr/>
        </p:nvSpPr>
        <p:spPr>
          <a:xfrm>
            <a:off x="4892040" y="3877056"/>
            <a:ext cx="3886200" cy="256032"/>
          </a:xfrm>
          <a:prstGeom prst="rect">
            <a:avLst/>
          </a:prstGeom>
          <a:noFill/>
          <a:ln/>
        </p:spPr>
        <p:txBody>
          <a:bodyPr wrap="square" lIns="0" tIns="0" rIns="0" bIns="0" rtlCol="0" anchor="ctr"/>
          <a:lstStyle/>
          <a:p>
            <a:pPr marL="0" indent="0">
              <a:buNone/>
            </a:pPr>
            <a:r>
              <a:rPr lang="en-US" sz="950" dirty="0">
                <a:solidFill>
                  <a:srgbClr val="ECF0F1"/>
                </a:solidFill>
                <a:latin typeface="Calibri" pitchFamily="34" charset="0"/>
                <a:ea typeface="Calibri" pitchFamily="34" charset="-122"/>
                <a:cs typeface="Calibri" pitchFamily="34" charset="-120"/>
              </a:rPr>
              <a:t>• CartoDB.Voyager used for clean, neutral background</a:t>
            </a:r>
            <a:endParaRPr lang="en-US" sz="950" dirty="0"/>
          </a:p>
        </p:txBody>
      </p:sp>
      <p:sp>
        <p:nvSpPr>
          <p:cNvPr id="38" name="Text 32"/>
          <p:cNvSpPr/>
          <p:nvPr/>
        </p:nvSpPr>
        <p:spPr>
          <a:xfrm>
            <a:off x="4892040" y="4160520"/>
            <a:ext cx="3886200" cy="256032"/>
          </a:xfrm>
          <a:prstGeom prst="rect">
            <a:avLst/>
          </a:prstGeom>
          <a:noFill/>
          <a:ln/>
        </p:spPr>
        <p:txBody>
          <a:bodyPr wrap="square" lIns="0" tIns="0" rIns="0" bIns="0" rtlCol="0" anchor="ctr"/>
          <a:lstStyle/>
          <a:p>
            <a:pPr marL="0" indent="0">
              <a:buNone/>
            </a:pPr>
            <a:r>
              <a:rPr lang="en-US" sz="950" dirty="0">
                <a:solidFill>
                  <a:srgbClr val="ECF0F1"/>
                </a:solidFill>
                <a:latin typeface="Calibri" pitchFamily="34" charset="0"/>
                <a:ea typeface="Calibri" pitchFamily="34" charset="-122"/>
                <a:cs typeface="Calibri" pitchFamily="34" charset="-120"/>
              </a:rPr>
              <a:t>• OpenStreetMap data — open license (ODbL)</a:t>
            </a:r>
            <a:endParaRPr lang="en-US" sz="950" dirty="0"/>
          </a:p>
        </p:txBody>
      </p:sp>
      <p:sp>
        <p:nvSpPr>
          <p:cNvPr id="39" name="Text 33"/>
          <p:cNvSpPr/>
          <p:nvPr/>
        </p:nvSpPr>
        <p:spPr>
          <a:xfrm>
            <a:off x="4892040" y="4443984"/>
            <a:ext cx="3886200" cy="256032"/>
          </a:xfrm>
          <a:prstGeom prst="rect">
            <a:avLst/>
          </a:prstGeom>
          <a:noFill/>
          <a:ln/>
        </p:spPr>
        <p:txBody>
          <a:bodyPr wrap="square" lIns="0" tIns="0" rIns="0" bIns="0" rtlCol="0" anchor="ctr"/>
          <a:lstStyle/>
          <a:p>
            <a:pPr marL="0" indent="0">
              <a:buNone/>
            </a:pPr>
            <a:r>
              <a:rPr lang="en-US" sz="950" dirty="0">
                <a:solidFill>
                  <a:srgbClr val="ECF0F1"/>
                </a:solidFill>
                <a:latin typeface="Calibri" pitchFamily="34" charset="0"/>
                <a:ea typeface="Calibri" pitchFamily="34" charset="-122"/>
                <a:cs typeface="Calibri" pitchFamily="34" charset="-120"/>
              </a:rPr>
              <a:t>• Loaded automatically via R leaflet package</a:t>
            </a:r>
            <a:endParaRPr lang="en-US" sz="950" dirty="0"/>
          </a:p>
        </p:txBody>
      </p:sp>
      <p:sp>
        <p:nvSpPr>
          <p:cNvPr id="40" name="Text 34"/>
          <p:cNvSpPr/>
          <p:nvPr/>
        </p:nvSpPr>
        <p:spPr>
          <a:xfrm>
            <a:off x="365760" y="4828032"/>
            <a:ext cx="8412480" cy="228600"/>
          </a:xfrm>
          <a:prstGeom prst="rect">
            <a:avLst/>
          </a:prstGeom>
          <a:noFill/>
          <a:ln/>
        </p:spPr>
        <p:txBody>
          <a:bodyPr wrap="square" rtlCol="0" anchor="ctr"/>
          <a:lstStyle/>
          <a:p>
            <a:pPr marL="0" indent="0" algn="ctr">
              <a:buNone/>
            </a:pPr>
            <a:r>
              <a:rPr lang="en-US" sz="900" i="1" dirty="0">
                <a:solidFill>
                  <a:srgbClr val="95A5A6"/>
                </a:solidFill>
                <a:latin typeface="Calibri" pitchFamily="34" charset="0"/>
                <a:ea typeface="Calibri" pitchFamily="34" charset="-122"/>
                <a:cs typeface="Calibri" pitchFamily="34" charset="-120"/>
              </a:rPr>
              <a:t>Course: Spatial Statistics  |  Supervisor: Dr. Mahmoud Eissa  |  Egyptian Chinese University</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ECC71"/>
          </a:solidFill>
          <a:ln w="12700">
            <a:solidFill>
              <a:srgbClr val="2ECC71"/>
            </a:solidFill>
            <a:prstDash val="solid"/>
          </a:ln>
        </p:spPr>
      </p:sp>
      <p:sp>
        <p:nvSpPr>
          <p:cNvPr id="3" name="Text 1"/>
          <p:cNvSpPr/>
          <p:nvPr/>
        </p:nvSpPr>
        <p:spPr>
          <a:xfrm>
            <a:off x="457200" y="274320"/>
            <a:ext cx="8229600" cy="59436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Conclusion &amp; Future Work</a:t>
            </a:r>
            <a:endParaRPr lang="en-US" sz="3200" dirty="0"/>
          </a:p>
        </p:txBody>
      </p:sp>
      <p:sp>
        <p:nvSpPr>
          <p:cNvPr id="4" name="Text 2"/>
          <p:cNvSpPr/>
          <p:nvPr/>
        </p:nvSpPr>
        <p:spPr>
          <a:xfrm>
            <a:off x="457200" y="960120"/>
            <a:ext cx="8229600" cy="914400"/>
          </a:xfrm>
          <a:prstGeom prst="rect">
            <a:avLst/>
          </a:prstGeom>
          <a:noFill/>
          <a:ln/>
        </p:spPr>
        <p:txBody>
          <a:bodyPr wrap="square" rtlCol="0" anchor="ctr"/>
          <a:lstStyle/>
          <a:p>
            <a:pPr marL="0" indent="0">
              <a:buNone/>
            </a:pPr>
            <a:r>
              <a:rPr lang="en-US" sz="1300" dirty="0">
                <a:solidFill>
                  <a:srgbClr val="ECF0F1"/>
                </a:solidFill>
                <a:latin typeface="Calibri" pitchFamily="34" charset="0"/>
                <a:ea typeface="Calibri" pitchFamily="34" charset="-122"/>
                <a:cs typeface="Calibri" pitchFamily="34" charset="-120"/>
              </a:rPr>
              <a:t>This project successfully applied spatial data science techniques to analyze Egypt's agricultural landscape. Using R's sf and ggplot2 libraries alongside interactive Leaflet mapping, we produced both static and interactive visualizations that reveal meaningful patterns in crop suitability, regional specialization, and geographic constraints.</a:t>
            </a:r>
            <a:endParaRPr lang="en-US" sz="1300" dirty="0"/>
          </a:p>
        </p:txBody>
      </p:sp>
      <p:sp>
        <p:nvSpPr>
          <p:cNvPr id="5" name="Shape 3"/>
          <p:cNvSpPr/>
          <p:nvPr/>
        </p:nvSpPr>
        <p:spPr>
          <a:xfrm>
            <a:off x="457200" y="2011680"/>
            <a:ext cx="8229600" cy="594360"/>
          </a:xfrm>
          <a:prstGeom prst="rect">
            <a:avLst/>
          </a:prstGeom>
          <a:solidFill>
            <a:srgbClr val="1B3A5C"/>
          </a:solidFill>
          <a:ln/>
        </p:spPr>
      </p:sp>
      <p:sp>
        <p:nvSpPr>
          <p:cNvPr id="6" name="Shape 4"/>
          <p:cNvSpPr/>
          <p:nvPr/>
        </p:nvSpPr>
        <p:spPr>
          <a:xfrm>
            <a:off x="457200" y="2011680"/>
            <a:ext cx="73152" cy="594360"/>
          </a:xfrm>
          <a:prstGeom prst="rect">
            <a:avLst/>
          </a:prstGeom>
          <a:solidFill>
            <a:srgbClr val="2ECC71"/>
          </a:solidFill>
          <a:ln w="12700">
            <a:solidFill>
              <a:srgbClr val="2ECC71"/>
            </a:solidFill>
            <a:prstDash val="solid"/>
          </a:ln>
        </p:spPr>
      </p:sp>
      <p:sp>
        <p:nvSpPr>
          <p:cNvPr id="7" name="Text 5"/>
          <p:cNvSpPr/>
          <p:nvPr/>
        </p:nvSpPr>
        <p:spPr>
          <a:xfrm>
            <a:off x="640080" y="2084832"/>
            <a:ext cx="1463040" cy="320040"/>
          </a:xfrm>
          <a:prstGeom prst="rect">
            <a:avLst/>
          </a:prstGeom>
          <a:noFill/>
          <a:ln/>
        </p:spPr>
        <p:txBody>
          <a:bodyPr wrap="square" lIns="0" tIns="0" rIns="0" bIns="0" rtlCol="0" anchor="ctr"/>
          <a:lstStyle/>
          <a:p>
            <a:pPr marL="0" indent="0">
              <a:buNone/>
            </a:pPr>
            <a:r>
              <a:rPr lang="en-US" sz="1200" b="1" dirty="0">
                <a:solidFill>
                  <a:srgbClr val="2ECC71"/>
                </a:solidFill>
                <a:latin typeface="Calibri" pitchFamily="34" charset="0"/>
                <a:ea typeface="Calibri" pitchFamily="34" charset="-122"/>
                <a:cs typeface="Calibri" pitchFamily="34" charset="-120"/>
              </a:rPr>
              <a:t>✅ Delivered</a:t>
            </a:r>
            <a:endParaRPr lang="en-US" sz="1200" dirty="0"/>
          </a:p>
        </p:txBody>
      </p:sp>
      <p:sp>
        <p:nvSpPr>
          <p:cNvPr id="8" name="Text 6"/>
          <p:cNvSpPr/>
          <p:nvPr/>
        </p:nvSpPr>
        <p:spPr>
          <a:xfrm>
            <a:off x="2148840" y="2084832"/>
            <a:ext cx="6400800" cy="411480"/>
          </a:xfrm>
          <a:prstGeom prst="rect">
            <a:avLst/>
          </a:prstGeom>
          <a:noFill/>
          <a:ln/>
        </p:spPr>
        <p:txBody>
          <a:bodyPr wrap="square" lIns="0" tIns="0" rIns="0" bIns="0" rtlCol="0" anchor="ctr"/>
          <a:lstStyle/>
          <a:p>
            <a:pPr marL="0" indent="0">
              <a:buNone/>
            </a:pPr>
            <a:r>
              <a:rPr lang="en-US" sz="1200" dirty="0">
                <a:solidFill>
                  <a:srgbClr val="ECF0F1"/>
                </a:solidFill>
                <a:latin typeface="Calibri" pitchFamily="34" charset="0"/>
                <a:ea typeface="Calibri" pitchFamily="34" charset="-122"/>
                <a:cs typeface="Calibri" pitchFamily="34" charset="-120"/>
              </a:rPr>
              <a:t>Static choropleth (suitability score) + 2 interactive Leaflet maps with full popups</a:t>
            </a:r>
            <a:endParaRPr lang="en-US" sz="1200" dirty="0"/>
          </a:p>
        </p:txBody>
      </p:sp>
      <p:sp>
        <p:nvSpPr>
          <p:cNvPr id="9" name="Shape 7"/>
          <p:cNvSpPr/>
          <p:nvPr/>
        </p:nvSpPr>
        <p:spPr>
          <a:xfrm>
            <a:off x="457200" y="2697480"/>
            <a:ext cx="8229600" cy="594360"/>
          </a:xfrm>
          <a:prstGeom prst="rect">
            <a:avLst/>
          </a:prstGeom>
          <a:solidFill>
            <a:srgbClr val="162535"/>
          </a:solidFill>
          <a:ln/>
        </p:spPr>
      </p:sp>
      <p:sp>
        <p:nvSpPr>
          <p:cNvPr id="10" name="Shape 8"/>
          <p:cNvSpPr/>
          <p:nvPr/>
        </p:nvSpPr>
        <p:spPr>
          <a:xfrm>
            <a:off x="457200" y="2697480"/>
            <a:ext cx="73152" cy="594360"/>
          </a:xfrm>
          <a:prstGeom prst="rect">
            <a:avLst/>
          </a:prstGeom>
          <a:solidFill>
            <a:srgbClr val="2ECC71"/>
          </a:solidFill>
          <a:ln w="12700">
            <a:solidFill>
              <a:srgbClr val="2ECC71"/>
            </a:solidFill>
            <a:prstDash val="solid"/>
          </a:ln>
        </p:spPr>
      </p:sp>
      <p:sp>
        <p:nvSpPr>
          <p:cNvPr id="11" name="Text 9"/>
          <p:cNvSpPr/>
          <p:nvPr/>
        </p:nvSpPr>
        <p:spPr>
          <a:xfrm>
            <a:off x="640080" y="2770632"/>
            <a:ext cx="1463040" cy="320040"/>
          </a:xfrm>
          <a:prstGeom prst="rect">
            <a:avLst/>
          </a:prstGeom>
          <a:noFill/>
          <a:ln/>
        </p:spPr>
        <p:txBody>
          <a:bodyPr wrap="square" lIns="0" tIns="0" rIns="0" bIns="0" rtlCol="0" anchor="ctr"/>
          <a:lstStyle/>
          <a:p>
            <a:pPr marL="0" indent="0">
              <a:buNone/>
            </a:pPr>
            <a:r>
              <a:rPr lang="en-US" sz="1200" b="1" dirty="0">
                <a:solidFill>
                  <a:srgbClr val="2ECC71"/>
                </a:solidFill>
                <a:latin typeface="Calibri" pitchFamily="34" charset="0"/>
                <a:ea typeface="Calibri" pitchFamily="34" charset="-122"/>
                <a:cs typeface="Calibri" pitchFamily="34" charset="-120"/>
              </a:rPr>
              <a:t>✅ Insight</a:t>
            </a:r>
            <a:endParaRPr lang="en-US" sz="1200" dirty="0"/>
          </a:p>
        </p:txBody>
      </p:sp>
      <p:sp>
        <p:nvSpPr>
          <p:cNvPr id="12" name="Text 10"/>
          <p:cNvSpPr/>
          <p:nvPr/>
        </p:nvSpPr>
        <p:spPr>
          <a:xfrm>
            <a:off x="2148840" y="2770632"/>
            <a:ext cx="6400800" cy="411480"/>
          </a:xfrm>
          <a:prstGeom prst="rect">
            <a:avLst/>
          </a:prstGeom>
          <a:noFill/>
          <a:ln/>
        </p:spPr>
        <p:txBody>
          <a:bodyPr wrap="square" lIns="0" tIns="0" rIns="0" bIns="0" rtlCol="0" anchor="ctr"/>
          <a:lstStyle/>
          <a:p>
            <a:pPr marL="0" indent="0">
              <a:buNone/>
            </a:pPr>
            <a:r>
              <a:rPr lang="en-US" sz="1200" dirty="0">
                <a:solidFill>
                  <a:srgbClr val="ECF0F1"/>
                </a:solidFill>
                <a:latin typeface="Calibri" pitchFamily="34" charset="0"/>
                <a:ea typeface="Calibri" pitchFamily="34" charset="-122"/>
                <a:cs typeface="Calibri" pitchFamily="34" charset="-120"/>
              </a:rPr>
              <a:t>Nile Delta remains Egypt's most productive zone; desert regions require targeted agricultural investment</a:t>
            </a:r>
            <a:endParaRPr lang="en-US" sz="1200" dirty="0"/>
          </a:p>
        </p:txBody>
      </p:sp>
      <p:sp>
        <p:nvSpPr>
          <p:cNvPr id="13" name="Shape 11"/>
          <p:cNvSpPr/>
          <p:nvPr/>
        </p:nvSpPr>
        <p:spPr>
          <a:xfrm>
            <a:off x="457200" y="3383280"/>
            <a:ext cx="8229600" cy="594360"/>
          </a:xfrm>
          <a:prstGeom prst="rect">
            <a:avLst/>
          </a:prstGeom>
          <a:solidFill>
            <a:srgbClr val="1B3A5C"/>
          </a:solidFill>
          <a:ln/>
        </p:spPr>
      </p:sp>
      <p:sp>
        <p:nvSpPr>
          <p:cNvPr id="14" name="Shape 12"/>
          <p:cNvSpPr/>
          <p:nvPr/>
        </p:nvSpPr>
        <p:spPr>
          <a:xfrm>
            <a:off x="457200" y="3383280"/>
            <a:ext cx="73152" cy="594360"/>
          </a:xfrm>
          <a:prstGeom prst="rect">
            <a:avLst/>
          </a:prstGeom>
          <a:solidFill>
            <a:srgbClr val="3498DB"/>
          </a:solidFill>
          <a:ln w="12700">
            <a:solidFill>
              <a:srgbClr val="3498DB"/>
            </a:solidFill>
            <a:prstDash val="solid"/>
          </a:ln>
        </p:spPr>
      </p:sp>
      <p:sp>
        <p:nvSpPr>
          <p:cNvPr id="15" name="Text 13"/>
          <p:cNvSpPr/>
          <p:nvPr/>
        </p:nvSpPr>
        <p:spPr>
          <a:xfrm>
            <a:off x="640080" y="3456432"/>
            <a:ext cx="1463040" cy="320040"/>
          </a:xfrm>
          <a:prstGeom prst="rect">
            <a:avLst/>
          </a:prstGeom>
          <a:noFill/>
          <a:ln/>
        </p:spPr>
        <p:txBody>
          <a:bodyPr wrap="square" lIns="0" tIns="0" rIns="0" bIns="0" rtlCol="0" anchor="ctr"/>
          <a:lstStyle/>
          <a:p>
            <a:pPr marL="0" indent="0">
              <a:buNone/>
            </a:pPr>
            <a:r>
              <a:rPr lang="en-US" sz="1200" b="1" dirty="0">
                <a:solidFill>
                  <a:srgbClr val="3498DB"/>
                </a:solidFill>
                <a:latin typeface="Calibri" pitchFamily="34" charset="0"/>
                <a:ea typeface="Calibri" pitchFamily="34" charset="-122"/>
                <a:cs typeface="Calibri" pitchFamily="34" charset="-120"/>
              </a:rPr>
              <a:t>🔭 Future</a:t>
            </a:r>
            <a:endParaRPr lang="en-US" sz="1200" dirty="0"/>
          </a:p>
        </p:txBody>
      </p:sp>
      <p:sp>
        <p:nvSpPr>
          <p:cNvPr id="16" name="Text 14"/>
          <p:cNvSpPr/>
          <p:nvPr/>
        </p:nvSpPr>
        <p:spPr>
          <a:xfrm>
            <a:off x="2148840" y="3456432"/>
            <a:ext cx="6400800" cy="411480"/>
          </a:xfrm>
          <a:prstGeom prst="rect">
            <a:avLst/>
          </a:prstGeom>
          <a:noFill/>
          <a:ln/>
        </p:spPr>
        <p:txBody>
          <a:bodyPr wrap="square" lIns="0" tIns="0" rIns="0" bIns="0" rtlCol="0" anchor="ctr"/>
          <a:lstStyle/>
          <a:p>
            <a:pPr marL="0" indent="0">
              <a:buNone/>
            </a:pPr>
            <a:r>
              <a:rPr lang="en-US" sz="1200" dirty="0">
                <a:solidFill>
                  <a:srgbClr val="ECF0F1"/>
                </a:solidFill>
                <a:latin typeface="Calibri" pitchFamily="34" charset="0"/>
                <a:ea typeface="Calibri" pitchFamily="34" charset="-122"/>
                <a:cs typeface="Calibri" pitchFamily="34" charset="-120"/>
              </a:rPr>
              <a:t>Integrate satellite NDVI data for real-time vegetation monitoring per governorate</a:t>
            </a:r>
            <a:endParaRPr lang="en-US" sz="1200" dirty="0"/>
          </a:p>
        </p:txBody>
      </p:sp>
      <p:sp>
        <p:nvSpPr>
          <p:cNvPr id="17" name="Shape 15"/>
          <p:cNvSpPr/>
          <p:nvPr/>
        </p:nvSpPr>
        <p:spPr>
          <a:xfrm>
            <a:off x="457200" y="4069080"/>
            <a:ext cx="8229600" cy="594360"/>
          </a:xfrm>
          <a:prstGeom prst="rect">
            <a:avLst/>
          </a:prstGeom>
          <a:solidFill>
            <a:srgbClr val="162535"/>
          </a:solidFill>
          <a:ln/>
        </p:spPr>
      </p:sp>
      <p:sp>
        <p:nvSpPr>
          <p:cNvPr id="18" name="Shape 16"/>
          <p:cNvSpPr/>
          <p:nvPr/>
        </p:nvSpPr>
        <p:spPr>
          <a:xfrm>
            <a:off x="457200" y="4069080"/>
            <a:ext cx="73152" cy="594360"/>
          </a:xfrm>
          <a:prstGeom prst="rect">
            <a:avLst/>
          </a:prstGeom>
          <a:solidFill>
            <a:srgbClr val="3498DB"/>
          </a:solidFill>
          <a:ln w="12700">
            <a:solidFill>
              <a:srgbClr val="3498DB"/>
            </a:solidFill>
            <a:prstDash val="solid"/>
          </a:ln>
        </p:spPr>
      </p:sp>
      <p:sp>
        <p:nvSpPr>
          <p:cNvPr id="19" name="Text 17"/>
          <p:cNvSpPr/>
          <p:nvPr/>
        </p:nvSpPr>
        <p:spPr>
          <a:xfrm>
            <a:off x="640080" y="4142232"/>
            <a:ext cx="1463040" cy="320040"/>
          </a:xfrm>
          <a:prstGeom prst="rect">
            <a:avLst/>
          </a:prstGeom>
          <a:noFill/>
          <a:ln/>
        </p:spPr>
        <p:txBody>
          <a:bodyPr wrap="square" lIns="0" tIns="0" rIns="0" bIns="0" rtlCol="0" anchor="ctr"/>
          <a:lstStyle/>
          <a:p>
            <a:pPr marL="0" indent="0">
              <a:buNone/>
            </a:pPr>
            <a:r>
              <a:rPr lang="en-US" sz="1200" b="1" dirty="0">
                <a:solidFill>
                  <a:srgbClr val="3498DB"/>
                </a:solidFill>
                <a:latin typeface="Calibri" pitchFamily="34" charset="0"/>
                <a:ea typeface="Calibri" pitchFamily="34" charset="-122"/>
                <a:cs typeface="Calibri" pitchFamily="34" charset="-120"/>
              </a:rPr>
              <a:t>🔭 Future</a:t>
            </a:r>
            <a:endParaRPr lang="en-US" sz="1200" dirty="0"/>
          </a:p>
        </p:txBody>
      </p:sp>
      <p:sp>
        <p:nvSpPr>
          <p:cNvPr id="20" name="Text 18"/>
          <p:cNvSpPr/>
          <p:nvPr/>
        </p:nvSpPr>
        <p:spPr>
          <a:xfrm>
            <a:off x="2148840" y="4142232"/>
            <a:ext cx="6400800" cy="411480"/>
          </a:xfrm>
          <a:prstGeom prst="rect">
            <a:avLst/>
          </a:prstGeom>
          <a:noFill/>
          <a:ln/>
        </p:spPr>
        <p:txBody>
          <a:bodyPr wrap="square" lIns="0" tIns="0" rIns="0" bIns="0" rtlCol="0" anchor="ctr"/>
          <a:lstStyle/>
          <a:p>
            <a:pPr marL="0" indent="0">
              <a:buNone/>
            </a:pPr>
            <a:r>
              <a:rPr lang="en-US" sz="1200" dirty="0">
                <a:solidFill>
                  <a:srgbClr val="ECF0F1"/>
                </a:solidFill>
                <a:latin typeface="Calibri" pitchFamily="34" charset="0"/>
                <a:ea typeface="Calibri" pitchFamily="34" charset="-122"/>
                <a:cs typeface="Calibri" pitchFamily="34" charset="-120"/>
              </a:rPr>
              <a:t>Add time-series layer showing crop yield changes (2010–2024) for trend analysis</a:t>
            </a:r>
            <a:endParaRPr lang="en-US" sz="1200" dirty="0"/>
          </a:p>
        </p:txBody>
      </p:sp>
      <p:sp>
        <p:nvSpPr>
          <p:cNvPr id="21" name="Text 19"/>
          <p:cNvSpPr/>
          <p:nvPr/>
        </p:nvSpPr>
        <p:spPr>
          <a:xfrm>
            <a:off x="457200" y="4754880"/>
            <a:ext cx="8229600" cy="274320"/>
          </a:xfrm>
          <a:prstGeom prst="rect">
            <a:avLst/>
          </a:prstGeom>
          <a:noFill/>
          <a:ln/>
        </p:spPr>
        <p:txBody>
          <a:bodyPr wrap="square" rtlCol="0" anchor="ctr"/>
          <a:lstStyle/>
          <a:p>
            <a:pPr marL="0" indent="0" algn="ctr">
              <a:buNone/>
            </a:pPr>
            <a:r>
              <a:rPr lang="en-US" sz="1000" dirty="0">
                <a:solidFill>
                  <a:srgbClr val="95A5A6"/>
                </a:solidFill>
                <a:latin typeface="Calibri" pitchFamily="34" charset="0"/>
                <a:ea typeface="Calibri" pitchFamily="34" charset="-122"/>
                <a:cs typeface="Calibri" pitchFamily="34" charset="-120"/>
              </a:rPr>
              <a:t>Student: Osman Osama  |  Egyptian Chinese University  |  Data Science Track</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1113</Words>
  <Application>Microsoft Office PowerPoint</Application>
  <PresentationFormat>On-screen Show (16:9)</PresentationFormat>
  <Paragraphs>185</Paragraphs>
  <Slides>11</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Egypt Agricultural Spatial Analysis</dc:title>
  <dc:subject>PptxGenJS Presentation</dc:subject>
  <dc:creator>Osman Osama</dc:creator>
  <cp:lastModifiedBy>mano osama</cp:lastModifiedBy>
  <cp:revision>2</cp:revision>
  <dcterms:created xsi:type="dcterms:W3CDTF">2026-05-05T18:57:37Z</dcterms:created>
  <dcterms:modified xsi:type="dcterms:W3CDTF">2026-05-05T19:19:49Z</dcterms:modified>
</cp:coreProperties>
</file>